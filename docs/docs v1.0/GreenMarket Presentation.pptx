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#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#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#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#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#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44912" y="30450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65295" y="30410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43097" y="30410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94681" y="3034715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31512" y="30410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86618" y="30474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97717" y="30410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73918" y="303471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40123" y="3034715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63922" y="30410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40123" y="30728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6340" y="303471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1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87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4715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43190"/>
            <a:ext cx="311404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6877" y="790820"/>
            <a:ext cx="5263515" cy="1670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01180" y="3125761"/>
            <a:ext cx="1717675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56048" y="3125761"/>
            <a:ext cx="298450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90019" y="3125761"/>
            <a:ext cx="21526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#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3.png"/><Relationship Id="rId7" Type="http://schemas.openxmlformats.org/officeDocument/2006/relationships/slide" Target="slide6.xml"/><Relationship Id="rId8" Type="http://schemas.openxmlformats.org/officeDocument/2006/relationships/image" Target="../media/image4.png"/><Relationship Id="rId9" Type="http://schemas.openxmlformats.org/officeDocument/2006/relationships/slide" Target="slide8.xml"/><Relationship Id="rId10" Type="http://schemas.openxmlformats.org/officeDocument/2006/relationships/slide" Target="slide10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slide" Target="slide10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" Target="slide10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slide" Target="slide10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Relationship Id="rId8" Type="http://schemas.openxmlformats.org/officeDocument/2006/relationships/image" Target="../media/image26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slide" Target="slide10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slide" Target="slide10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" Target="slide10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slide" Target="slide10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729" y="408888"/>
            <a:ext cx="5659755" cy="962660"/>
            <a:chOff x="75729" y="408888"/>
            <a:chExt cx="5659755" cy="962660"/>
          </a:xfrm>
        </p:grpSpPr>
        <p:sp>
          <p:nvSpPr>
            <p:cNvPr id="3" name="object 3"/>
            <p:cNvSpPr/>
            <p:nvPr/>
          </p:nvSpPr>
          <p:spPr>
            <a:xfrm>
              <a:off x="75729" y="408888"/>
              <a:ext cx="5608955" cy="82550"/>
            </a:xfrm>
            <a:custGeom>
              <a:avLst/>
              <a:gdLst/>
              <a:ahLst/>
              <a:cxnLst/>
              <a:rect l="l" t="t" r="r" b="b"/>
              <a:pathLst>
                <a:path w="5608955" h="82550">
                  <a:moveTo>
                    <a:pt x="5557820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608620" y="82384"/>
                  </a:lnTo>
                  <a:lnTo>
                    <a:pt x="5608620" y="50800"/>
                  </a:lnTo>
                  <a:lnTo>
                    <a:pt x="5604612" y="31075"/>
                  </a:lnTo>
                  <a:lnTo>
                    <a:pt x="5593698" y="14922"/>
                  </a:lnTo>
                  <a:lnTo>
                    <a:pt x="5577545" y="4008"/>
                  </a:lnTo>
                  <a:lnTo>
                    <a:pt x="55578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6530" y="472137"/>
              <a:ext cx="5608955" cy="899160"/>
            </a:xfrm>
            <a:custGeom>
              <a:avLst/>
              <a:gdLst/>
              <a:ahLst/>
              <a:cxnLst/>
              <a:rect l="l" t="t" r="r" b="b"/>
              <a:pathLst>
                <a:path w="5608955" h="899160">
                  <a:moveTo>
                    <a:pt x="5608620" y="0"/>
                  </a:moveTo>
                  <a:lnTo>
                    <a:pt x="0" y="0"/>
                  </a:lnTo>
                  <a:lnTo>
                    <a:pt x="0" y="899019"/>
                  </a:lnTo>
                  <a:lnTo>
                    <a:pt x="5608620" y="899019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5729" y="453300"/>
              <a:ext cx="5608955" cy="867410"/>
            </a:xfrm>
            <a:custGeom>
              <a:avLst/>
              <a:gdLst/>
              <a:ahLst/>
              <a:cxnLst/>
              <a:rect l="l" t="t" r="r" b="b"/>
              <a:pathLst>
                <a:path w="5608955" h="867410">
                  <a:moveTo>
                    <a:pt x="5608620" y="0"/>
                  </a:moveTo>
                  <a:lnTo>
                    <a:pt x="0" y="0"/>
                  </a:lnTo>
                  <a:lnTo>
                    <a:pt x="0" y="816255"/>
                  </a:lnTo>
                  <a:lnTo>
                    <a:pt x="4008" y="835979"/>
                  </a:lnTo>
                  <a:lnTo>
                    <a:pt x="14922" y="852132"/>
                  </a:lnTo>
                  <a:lnTo>
                    <a:pt x="31075" y="863046"/>
                  </a:lnTo>
                  <a:lnTo>
                    <a:pt x="50800" y="867055"/>
                  </a:lnTo>
                  <a:lnTo>
                    <a:pt x="5557820" y="867055"/>
                  </a:lnTo>
                  <a:lnTo>
                    <a:pt x="5577545" y="863046"/>
                  </a:lnTo>
                  <a:lnTo>
                    <a:pt x="5593698" y="852132"/>
                  </a:lnTo>
                  <a:lnTo>
                    <a:pt x="5604612" y="835979"/>
                  </a:lnTo>
                  <a:lnTo>
                    <a:pt x="5608620" y="81625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09829" y="524316"/>
            <a:ext cx="4940935" cy="65849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algn="ctr" marL="12700" marR="5080">
              <a:lnSpc>
                <a:spcPct val="106700"/>
              </a:lnSpc>
              <a:spcBef>
                <a:spcPts val="20"/>
              </a:spcBef>
            </a:pPr>
            <a:r>
              <a:rPr dirty="0" spc="60"/>
              <a:t>GreenMarket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 spc="65"/>
              <a:t>Plateforme</a:t>
            </a:r>
            <a:r>
              <a:rPr dirty="0" spc="-5"/>
              <a:t> </a:t>
            </a:r>
            <a:r>
              <a:rPr dirty="0" spc="65"/>
              <a:t>de</a:t>
            </a:r>
            <a:r>
              <a:rPr dirty="0" spc="-10"/>
              <a:t> </a:t>
            </a:r>
            <a:r>
              <a:rPr dirty="0" spc="60"/>
              <a:t>vente</a:t>
            </a:r>
            <a:r>
              <a:rPr dirty="0" spc="-5"/>
              <a:t> </a:t>
            </a:r>
            <a:r>
              <a:rPr dirty="0" spc="65"/>
              <a:t>de</a:t>
            </a:r>
            <a:r>
              <a:rPr dirty="0" spc="-5"/>
              <a:t> </a:t>
            </a:r>
            <a:r>
              <a:rPr dirty="0" spc="85"/>
              <a:t>produits</a:t>
            </a:r>
            <a:r>
              <a:rPr dirty="0" spc="-5"/>
              <a:t> </a:t>
            </a:r>
            <a:r>
              <a:rPr dirty="0" spc="105"/>
              <a:t>du</a:t>
            </a:r>
            <a:r>
              <a:rPr dirty="0" spc="-10"/>
              <a:t> </a:t>
            </a:r>
            <a:r>
              <a:rPr dirty="0" spc="85"/>
              <a:t>terroir </a:t>
            </a:r>
            <a:r>
              <a:rPr dirty="0" spc="60"/>
              <a:t>marocain</a:t>
            </a:r>
          </a:p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dirty="0" sz="1000"/>
              <a:t>Projet</a:t>
            </a:r>
            <a:r>
              <a:rPr dirty="0" sz="1000" spc="110"/>
              <a:t> </a:t>
            </a:r>
            <a:r>
              <a:rPr dirty="0" sz="1000"/>
              <a:t>de</a:t>
            </a:r>
            <a:r>
              <a:rPr dirty="0" sz="1000" spc="110"/>
              <a:t> </a:t>
            </a:r>
            <a:r>
              <a:rPr dirty="0" sz="1000"/>
              <a:t>développement</a:t>
            </a:r>
            <a:r>
              <a:rPr dirty="0" sz="1000" spc="114"/>
              <a:t> </a:t>
            </a:r>
            <a:r>
              <a:rPr dirty="0" sz="1000"/>
              <a:t>web</a:t>
            </a:r>
            <a:r>
              <a:rPr dirty="0" sz="1000" spc="110"/>
              <a:t> </a:t>
            </a:r>
            <a:r>
              <a:rPr dirty="0" sz="1000"/>
              <a:t>-</a:t>
            </a:r>
            <a:r>
              <a:rPr dirty="0" sz="1000" spc="114"/>
              <a:t> </a:t>
            </a:r>
            <a:r>
              <a:rPr dirty="0" sz="1000"/>
              <a:t>Filière</a:t>
            </a:r>
            <a:r>
              <a:rPr dirty="0" sz="1000" spc="110"/>
              <a:t> </a:t>
            </a:r>
            <a:r>
              <a:rPr dirty="0" sz="1000" spc="-70"/>
              <a:t>DEV</a:t>
            </a:r>
            <a:r>
              <a:rPr dirty="0" sz="1000" spc="114"/>
              <a:t> </a:t>
            </a:r>
            <a:r>
              <a:rPr dirty="0" sz="1000" spc="-25"/>
              <a:t>202</a:t>
            </a: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495325" y="1531014"/>
            <a:ext cx="4802505" cy="1108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95"/>
              </a:spcBef>
              <a:tabLst>
                <a:tab pos="1156335" algn="l"/>
                <a:tab pos="2143125" algn="l"/>
                <a:tab pos="3246120" algn="l"/>
                <a:tab pos="4512310" algn="l"/>
              </a:tabLst>
            </a:pPr>
            <a:r>
              <a:rPr dirty="0" sz="1000">
                <a:latin typeface="Arial MT"/>
                <a:cs typeface="Arial MT"/>
              </a:rPr>
              <a:t>Azaanoun</a:t>
            </a:r>
            <a:r>
              <a:rPr dirty="0" sz="1000" spc="15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Ismail</a:t>
            </a:r>
            <a:r>
              <a:rPr dirty="0" sz="1000">
                <a:latin typeface="Arial MT"/>
                <a:cs typeface="Arial MT"/>
              </a:rPr>
              <a:t>	Chtoun</a:t>
            </a:r>
            <a:r>
              <a:rPr dirty="0" sz="1000" spc="20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Ismail</a:t>
            </a:r>
            <a:r>
              <a:rPr dirty="0" sz="1000">
                <a:latin typeface="Arial MT"/>
                <a:cs typeface="Arial MT"/>
              </a:rPr>
              <a:t>	Lamiae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El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Ftouh</a:t>
            </a:r>
            <a:r>
              <a:rPr dirty="0" sz="1000">
                <a:latin typeface="Arial MT"/>
                <a:cs typeface="Arial MT"/>
              </a:rPr>
              <a:t>	Roumaissae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Akhrif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-10">
                <a:latin typeface="Arial MT"/>
                <a:cs typeface="Arial MT"/>
              </a:rPr>
              <a:t>Alaiz </a:t>
            </a:r>
            <a:r>
              <a:rPr dirty="0" sz="1000" spc="40">
                <a:latin typeface="Arial MT"/>
                <a:cs typeface="Arial MT"/>
              </a:rPr>
              <a:t>Mohammed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00">
              <a:latin typeface="Arial MT"/>
              <a:cs typeface="Arial MT"/>
            </a:endParaRPr>
          </a:p>
          <a:p>
            <a:pPr algn="ctr" marR="24765">
              <a:lnSpc>
                <a:spcPct val="100000"/>
              </a:lnSpc>
            </a:pPr>
            <a:r>
              <a:rPr dirty="0" sz="700" spc="-30">
                <a:latin typeface="Arial MT"/>
                <a:cs typeface="Arial MT"/>
              </a:rPr>
              <a:t>ISMO-</a:t>
            </a:r>
            <a:r>
              <a:rPr dirty="0" sz="700" spc="-10">
                <a:latin typeface="Arial MT"/>
                <a:cs typeface="Arial MT"/>
              </a:rPr>
              <a:t>OFPPT</a:t>
            </a:r>
            <a:endParaRPr sz="700">
              <a:latin typeface="Arial MT"/>
              <a:cs typeface="Arial MT"/>
            </a:endParaRPr>
          </a:p>
          <a:p>
            <a:pPr algn="ctr" marR="24765">
              <a:lnSpc>
                <a:spcPct val="100000"/>
              </a:lnSpc>
              <a:spcBef>
                <a:spcPts val="525"/>
              </a:spcBef>
            </a:pPr>
            <a:r>
              <a:rPr dirty="0" sz="700" spc="-10" i="1">
                <a:latin typeface="Trebuchet MS"/>
                <a:cs typeface="Trebuchet MS"/>
              </a:rPr>
              <a:t>Formatrice</a:t>
            </a:r>
            <a:r>
              <a:rPr dirty="0" sz="700" spc="-25" i="1">
                <a:latin typeface="Trebuchet MS"/>
                <a:cs typeface="Trebuchet MS"/>
              </a:rPr>
              <a:t> </a:t>
            </a:r>
            <a:r>
              <a:rPr dirty="0" sz="700" spc="-90" i="1">
                <a:latin typeface="Trebuchet MS"/>
                <a:cs typeface="Trebuchet MS"/>
              </a:rPr>
              <a:t>:</a:t>
            </a:r>
            <a:r>
              <a:rPr dirty="0" sz="700" spc="-20" i="1">
                <a:latin typeface="Trebuchet MS"/>
                <a:cs typeface="Trebuchet MS"/>
              </a:rPr>
              <a:t> </a:t>
            </a:r>
            <a:r>
              <a:rPr dirty="0" sz="700" spc="-25" i="1">
                <a:latin typeface="Trebuchet MS"/>
                <a:cs typeface="Trebuchet MS"/>
              </a:rPr>
              <a:t>Joairia</a:t>
            </a:r>
            <a:r>
              <a:rPr dirty="0" sz="700" spc="-20" i="1">
                <a:latin typeface="Trebuchet MS"/>
                <a:cs typeface="Trebuchet MS"/>
              </a:rPr>
              <a:t> </a:t>
            </a:r>
            <a:r>
              <a:rPr dirty="0" sz="700" spc="-10" i="1">
                <a:latin typeface="Trebuchet MS"/>
                <a:cs typeface="Trebuchet MS"/>
              </a:rPr>
              <a:t>LAFHAL</a:t>
            </a:r>
            <a:endParaRPr sz="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700">
              <a:latin typeface="Trebuchet MS"/>
              <a:cs typeface="Trebuchet MS"/>
            </a:endParaRPr>
          </a:p>
          <a:p>
            <a:pPr algn="ctr" marR="24765">
              <a:lnSpc>
                <a:spcPct val="100000"/>
              </a:lnSpc>
            </a:pPr>
            <a:r>
              <a:rPr dirty="0" sz="1000" spc="-10">
                <a:latin typeface="Arial MT"/>
                <a:cs typeface="Arial MT"/>
              </a:rPr>
              <a:t>Juin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2026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9" name="object 9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70924" y="3125761"/>
            <a:ext cx="418465" cy="111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GreenMarket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10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16865"/>
          </a:xfrm>
          <a:custGeom>
            <a:avLst/>
            <a:gdLst/>
            <a:ahLst/>
            <a:cxnLst/>
            <a:rect l="l" t="t" r="r" b="b"/>
            <a:pathLst>
              <a:path w="5760085" h="316865">
                <a:moveTo>
                  <a:pt x="5759996" y="0"/>
                </a:moveTo>
                <a:lnTo>
                  <a:pt x="0" y="0"/>
                </a:lnTo>
                <a:lnTo>
                  <a:pt x="0" y="316763"/>
                </a:lnTo>
                <a:lnTo>
                  <a:pt x="5759996" y="316763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0"/>
              <a:t>Sommaire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75" y="884110"/>
            <a:ext cx="176326" cy="1763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2402" y="902629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329" y="880520"/>
            <a:ext cx="14846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0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1000" spc="35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000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et</a:t>
            </a:r>
            <a:r>
              <a:rPr dirty="0" sz="1000" spc="40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Contexte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275" y="1327340"/>
            <a:ext cx="176326" cy="17632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2402" y="1346290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EAEAF7"/>
                </a:solidFill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0329" y="1323750"/>
            <a:ext cx="18903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>
                <a:solidFill>
                  <a:srgbClr val="3333B2"/>
                </a:solidFill>
                <a:latin typeface="Arial MT"/>
                <a:cs typeface="Arial MT"/>
                <a:hlinkClick r:id="rId5" action="ppaction://hlinksldjump"/>
              </a:rPr>
              <a:t>Architecture</a:t>
            </a:r>
            <a:r>
              <a:rPr dirty="0" sz="1000" spc="70">
                <a:solidFill>
                  <a:srgbClr val="3333B2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1000" spc="10">
                <a:solidFill>
                  <a:srgbClr val="3333B2"/>
                </a:solidFill>
                <a:latin typeface="Arial MT"/>
                <a:cs typeface="Arial MT"/>
                <a:hlinkClick r:id="rId5" action="ppaction://hlinksldjump"/>
              </a:rPr>
              <a:t>et</a:t>
            </a:r>
            <a:r>
              <a:rPr dirty="0" sz="1000" spc="70">
                <a:solidFill>
                  <a:srgbClr val="3333B2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1000">
                <a:solidFill>
                  <a:srgbClr val="3333B2"/>
                </a:solidFill>
                <a:latin typeface="Arial MT"/>
                <a:cs typeface="Arial MT"/>
                <a:hlinkClick r:id="rId5" action="ppaction://hlinksldjump"/>
              </a:rPr>
              <a:t>Stack</a:t>
            </a:r>
            <a:r>
              <a:rPr dirty="0" sz="1000" spc="75">
                <a:solidFill>
                  <a:srgbClr val="3333B2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Arial MT"/>
                <a:cs typeface="Arial MT"/>
                <a:hlinkClick r:id="rId5" action="ppaction://hlinksldjump"/>
              </a:rPr>
              <a:t>Technique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275" y="1770570"/>
            <a:ext cx="176326" cy="17632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2402" y="1789076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EAEAF7"/>
                </a:solidFill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329" y="1766980"/>
            <a:ext cx="12096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>
                <a:solidFill>
                  <a:srgbClr val="3333B2"/>
                </a:solidFill>
                <a:latin typeface="Arial MT"/>
                <a:cs typeface="Arial MT"/>
                <a:hlinkClick r:id="rId7" action="ppaction://hlinksldjump"/>
              </a:rPr>
              <a:t>Fonctionnalités</a:t>
            </a:r>
            <a:r>
              <a:rPr dirty="0" sz="1000" spc="229">
                <a:solidFill>
                  <a:srgbClr val="3333B2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1000" spc="-20">
                <a:solidFill>
                  <a:srgbClr val="3333B2"/>
                </a:solidFill>
                <a:latin typeface="Arial MT"/>
                <a:cs typeface="Arial MT"/>
                <a:hlinkClick r:id="rId7" action="ppaction://hlinksldjump"/>
              </a:rPr>
              <a:t>Clés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275" y="2213787"/>
            <a:ext cx="176326" cy="17632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2402" y="2232484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EAEAF7"/>
                </a:solidFill>
                <a:latin typeface="Arial MT"/>
                <a:cs typeface="Arial MT"/>
              </a:rPr>
              <a:t>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0329" y="2210198"/>
            <a:ext cx="13531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>
                <a:solidFill>
                  <a:srgbClr val="3333B2"/>
                </a:solidFill>
                <a:latin typeface="Arial MT"/>
                <a:cs typeface="Arial MT"/>
                <a:hlinkClick r:id="rId9" action="ppaction://hlinksldjump"/>
              </a:rPr>
              <a:t>Difficultés</a:t>
            </a:r>
            <a:r>
              <a:rPr dirty="0" sz="1000" spc="130">
                <a:solidFill>
                  <a:srgbClr val="3333B2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1000" spc="10">
                <a:solidFill>
                  <a:srgbClr val="3333B2"/>
                </a:solidFill>
                <a:latin typeface="Arial MT"/>
                <a:cs typeface="Arial MT"/>
                <a:hlinkClick r:id="rId9" action="ppaction://hlinksldjump"/>
              </a:rPr>
              <a:t>et</a:t>
            </a:r>
            <a:r>
              <a:rPr dirty="0" sz="1000" spc="135">
                <a:solidFill>
                  <a:srgbClr val="3333B2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Arial MT"/>
                <a:cs typeface="Arial MT"/>
                <a:hlinkClick r:id="rId9" action="ppaction://hlinksldjump"/>
              </a:rPr>
              <a:t>Solutions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17" name="object 17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670924" y="3125761"/>
            <a:ext cx="418465" cy="111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GreenMarket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10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16865"/>
          </a:xfrm>
          <a:custGeom>
            <a:avLst/>
            <a:gdLst/>
            <a:ahLst/>
            <a:cxnLst/>
            <a:rect l="l" t="t" r="r" b="b"/>
            <a:pathLst>
              <a:path w="5760085" h="316865">
                <a:moveTo>
                  <a:pt x="5759996" y="0"/>
                </a:moveTo>
                <a:lnTo>
                  <a:pt x="0" y="0"/>
                </a:lnTo>
                <a:lnTo>
                  <a:pt x="0" y="316763"/>
                </a:lnTo>
                <a:lnTo>
                  <a:pt x="5759996" y="316763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0"/>
              <a:t>Présentation</a:t>
            </a:r>
            <a:r>
              <a:rPr dirty="0" spc="-10"/>
              <a:t> </a:t>
            </a:r>
            <a:r>
              <a:rPr dirty="0" spc="105"/>
              <a:t>du</a:t>
            </a:r>
            <a:r>
              <a:rPr dirty="0" spc="-10"/>
              <a:t> </a:t>
            </a:r>
            <a:r>
              <a:rPr dirty="0" spc="75"/>
              <a:t>projet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424" y="883983"/>
            <a:ext cx="71882" cy="718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424" y="1073772"/>
            <a:ext cx="71882" cy="718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424" y="1263561"/>
            <a:ext cx="71882" cy="7188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3830" y="781208"/>
            <a:ext cx="515493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5430" marR="5080">
              <a:lnSpc>
                <a:spcPct val="124500"/>
              </a:lnSpc>
              <a:spcBef>
                <a:spcPts val="100"/>
              </a:spcBef>
            </a:pPr>
            <a:r>
              <a:rPr dirty="0" sz="1000" spc="-55">
                <a:latin typeface="Arial Black"/>
                <a:cs typeface="Arial Black"/>
              </a:rPr>
              <a:t>GreenMarket</a:t>
            </a:r>
            <a:r>
              <a:rPr dirty="0" sz="1000" spc="70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1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E-commerce</a:t>
            </a:r>
            <a:r>
              <a:rPr dirty="0" sz="1000" spc="1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</a:t>
            </a:r>
            <a:r>
              <a:rPr dirty="0" sz="1000" spc="1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produits</a:t>
            </a:r>
            <a:r>
              <a:rPr dirty="0" sz="1000" spc="1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authentiques</a:t>
            </a:r>
            <a:r>
              <a:rPr dirty="0" sz="1000" spc="120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du</a:t>
            </a:r>
            <a:r>
              <a:rPr dirty="0" sz="1000" spc="125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terroir</a:t>
            </a:r>
            <a:r>
              <a:rPr dirty="0" sz="1000" spc="1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marocain.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 spc="-55">
                <a:latin typeface="Arial Black"/>
                <a:cs typeface="Arial Black"/>
              </a:rPr>
              <a:t>Objectif</a:t>
            </a:r>
            <a:r>
              <a:rPr dirty="0" sz="1000" spc="50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110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Mettre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en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relation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directe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les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producteurs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locaux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et</a:t>
            </a:r>
            <a:r>
              <a:rPr dirty="0" sz="1000" spc="1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les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consommateurs. </a:t>
            </a:r>
            <a:r>
              <a:rPr dirty="0" sz="1000" spc="-65">
                <a:latin typeface="Arial Black"/>
                <a:cs typeface="Arial Black"/>
              </a:rPr>
              <a:t>Gouvernance</a:t>
            </a:r>
            <a:r>
              <a:rPr dirty="0" sz="1000" spc="50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Gestion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par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rôles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(Admin,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Producteur,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Client).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 spc="-70">
                <a:latin typeface="Arial Black"/>
                <a:cs typeface="Arial Black"/>
              </a:rPr>
              <a:t>Équipe</a:t>
            </a:r>
            <a:r>
              <a:rPr dirty="0" sz="1000" spc="-30">
                <a:latin typeface="Arial Black"/>
                <a:cs typeface="Arial Black"/>
              </a:rPr>
              <a:t> </a:t>
            </a:r>
            <a:r>
              <a:rPr dirty="0" sz="1000" spc="-55">
                <a:latin typeface="Arial Black"/>
                <a:cs typeface="Arial Black"/>
              </a:rPr>
              <a:t>de</a:t>
            </a:r>
            <a:r>
              <a:rPr dirty="0" sz="1000" spc="-25">
                <a:latin typeface="Arial Black"/>
                <a:cs typeface="Arial Black"/>
              </a:rPr>
              <a:t> </a:t>
            </a:r>
            <a:r>
              <a:rPr dirty="0" sz="1000" spc="-55">
                <a:latin typeface="Arial Black"/>
                <a:cs typeface="Arial Black"/>
              </a:rPr>
              <a:t>développement</a:t>
            </a:r>
            <a:r>
              <a:rPr dirty="0" sz="1000" spc="-25">
                <a:latin typeface="Arial Black"/>
                <a:cs typeface="Arial Black"/>
              </a:rPr>
              <a:t> </a:t>
            </a:r>
            <a:r>
              <a:rPr dirty="0" sz="1000" spc="-50">
                <a:latin typeface="Arial Black"/>
                <a:cs typeface="Arial Black"/>
              </a:rPr>
              <a:t>: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247" y="1914588"/>
            <a:ext cx="71882" cy="718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24700" y="1849784"/>
            <a:ext cx="2098675" cy="519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Arial Black"/>
                <a:cs typeface="Arial Black"/>
              </a:rPr>
              <a:t>Azaanoun</a:t>
            </a:r>
            <a:r>
              <a:rPr dirty="0" sz="1000" spc="-65">
                <a:latin typeface="Arial Black"/>
                <a:cs typeface="Arial Black"/>
              </a:rPr>
              <a:t> </a:t>
            </a:r>
            <a:r>
              <a:rPr dirty="0" sz="1000" spc="-50">
                <a:latin typeface="Arial Black"/>
                <a:cs typeface="Arial Black"/>
              </a:rPr>
              <a:t>Ismail</a:t>
            </a:r>
            <a:r>
              <a:rPr dirty="0" sz="1000" spc="-60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-10">
                <a:latin typeface="Arial MT"/>
                <a:cs typeface="Arial MT"/>
              </a:rPr>
              <a:t> BDD, </a:t>
            </a:r>
            <a:r>
              <a:rPr dirty="0" sz="1000" spc="-40">
                <a:latin typeface="Arial MT"/>
                <a:cs typeface="Arial MT"/>
              </a:rPr>
              <a:t>PHP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Core, </a:t>
            </a:r>
            <a:r>
              <a:rPr dirty="0" sz="1000" spc="-10">
                <a:latin typeface="Arial MT"/>
                <a:cs typeface="Arial MT"/>
              </a:rPr>
              <a:t>JavaScript.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000" spc="-45">
                <a:latin typeface="Arial Black"/>
                <a:cs typeface="Arial Black"/>
              </a:rPr>
              <a:t>Chtoun</a:t>
            </a:r>
            <a:r>
              <a:rPr dirty="0" sz="1000" spc="-70">
                <a:latin typeface="Arial Black"/>
                <a:cs typeface="Arial Black"/>
              </a:rPr>
              <a:t> </a:t>
            </a:r>
            <a:r>
              <a:rPr dirty="0" sz="1000" spc="-50">
                <a:latin typeface="Arial Black"/>
                <a:cs typeface="Arial Black"/>
              </a:rPr>
              <a:t>Ismail</a:t>
            </a:r>
            <a:r>
              <a:rPr dirty="0" sz="1000" spc="-65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BDD, Architecture.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2247" y="2256205"/>
            <a:ext cx="71882" cy="7188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0075" y="1812670"/>
            <a:ext cx="71881" cy="7188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162528" y="1709909"/>
            <a:ext cx="2374265" cy="7467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65">
                <a:latin typeface="Arial Black"/>
                <a:cs typeface="Arial Black"/>
              </a:rPr>
              <a:t>Lamiae</a:t>
            </a:r>
            <a:r>
              <a:rPr dirty="0" sz="1000" spc="-55">
                <a:latin typeface="Arial Black"/>
                <a:cs typeface="Arial Black"/>
              </a:rPr>
              <a:t> </a:t>
            </a:r>
            <a:r>
              <a:rPr dirty="0" sz="1000" spc="-105">
                <a:latin typeface="Arial Black"/>
                <a:cs typeface="Arial Black"/>
              </a:rPr>
              <a:t>El</a:t>
            </a:r>
            <a:r>
              <a:rPr dirty="0" sz="1000" spc="-50">
                <a:latin typeface="Arial Black"/>
                <a:cs typeface="Arial Black"/>
              </a:rPr>
              <a:t> Ftouh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UI/UX,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HTML/CSS.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000" spc="-75">
                <a:latin typeface="Arial Black"/>
                <a:cs typeface="Arial Black"/>
              </a:rPr>
              <a:t>Roumaissae</a:t>
            </a:r>
            <a:r>
              <a:rPr dirty="0" sz="1000" spc="-30">
                <a:latin typeface="Arial Black"/>
                <a:cs typeface="Arial Black"/>
              </a:rPr>
              <a:t> </a:t>
            </a:r>
            <a:r>
              <a:rPr dirty="0" sz="1000" spc="-40">
                <a:latin typeface="Arial Black"/>
                <a:cs typeface="Arial Black"/>
              </a:rPr>
              <a:t>Akhrif</a:t>
            </a:r>
            <a:r>
              <a:rPr dirty="0" sz="1000" spc="-30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UI/UX,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HTML/CSS.</a:t>
            </a:r>
            <a:endParaRPr sz="1000">
              <a:latin typeface="Arial MT"/>
              <a:cs typeface="Arial MT"/>
            </a:endParaRPr>
          </a:p>
          <a:p>
            <a:pPr marL="12700" marR="463550">
              <a:lnSpc>
                <a:spcPct val="100000"/>
              </a:lnSpc>
              <a:spcBef>
                <a:spcPts val="290"/>
              </a:spcBef>
            </a:pPr>
            <a:r>
              <a:rPr dirty="0" sz="1000" spc="-65">
                <a:latin typeface="Arial Black"/>
                <a:cs typeface="Arial Black"/>
              </a:rPr>
              <a:t>Alaiz</a:t>
            </a:r>
            <a:r>
              <a:rPr dirty="0" sz="1000" spc="-55">
                <a:latin typeface="Arial Black"/>
                <a:cs typeface="Arial Black"/>
              </a:rPr>
              <a:t> </a:t>
            </a:r>
            <a:r>
              <a:rPr dirty="0" sz="1000" spc="-45">
                <a:latin typeface="Arial Black"/>
                <a:cs typeface="Arial Black"/>
              </a:rPr>
              <a:t>Mohammed</a:t>
            </a:r>
            <a:r>
              <a:rPr dirty="0" sz="1000" spc="-50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Supervision technique.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0075" y="2002459"/>
            <a:ext cx="71881" cy="7188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40075" y="2192248"/>
            <a:ext cx="71881" cy="7188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16" name="object 16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670924" y="3125761"/>
            <a:ext cx="418465" cy="111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GreenMarket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10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16865"/>
          </a:xfrm>
          <a:custGeom>
            <a:avLst/>
            <a:gdLst/>
            <a:ahLst/>
            <a:cxnLst/>
            <a:rect l="l" t="t" r="r" b="b"/>
            <a:pathLst>
              <a:path w="5760085" h="316865">
                <a:moveTo>
                  <a:pt x="5759996" y="0"/>
                </a:moveTo>
                <a:lnTo>
                  <a:pt x="0" y="0"/>
                </a:lnTo>
                <a:lnTo>
                  <a:pt x="0" y="316763"/>
                </a:lnTo>
                <a:lnTo>
                  <a:pt x="5759996" y="316763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75"/>
              <a:t>Historique</a:t>
            </a:r>
            <a:r>
              <a:rPr dirty="0" spc="-15"/>
              <a:t> </a:t>
            </a:r>
            <a:r>
              <a:rPr dirty="0" spc="80"/>
              <a:t>et</a:t>
            </a:r>
            <a:r>
              <a:rPr dirty="0" spc="-15"/>
              <a:t> </a:t>
            </a:r>
            <a:r>
              <a:rPr dirty="0" spc="75"/>
              <a:t>organisation</a:t>
            </a:r>
            <a:r>
              <a:rPr dirty="0" spc="-15"/>
              <a:t> </a:t>
            </a:r>
            <a:r>
              <a:rPr dirty="0" spc="105"/>
              <a:t>du</a:t>
            </a:r>
            <a:r>
              <a:rPr dirty="0" spc="-15"/>
              <a:t> </a:t>
            </a:r>
            <a:r>
              <a:rPr dirty="0" spc="50"/>
              <a:t>travail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424" y="1149172"/>
            <a:ext cx="71882" cy="718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057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pc="-45"/>
              <a:t>Début</a:t>
            </a:r>
            <a:r>
              <a:rPr dirty="0" spc="40"/>
              <a:t> </a:t>
            </a:r>
            <a:r>
              <a:rPr dirty="0" spc="-45"/>
              <a:t>Mai</a:t>
            </a:r>
            <a:r>
              <a:rPr dirty="0" spc="45"/>
              <a:t> </a:t>
            </a:r>
            <a:r>
              <a:rPr dirty="0" spc="-100"/>
              <a:t>2026</a:t>
            </a:r>
            <a:r>
              <a:rPr dirty="0" spc="40"/>
              <a:t> </a:t>
            </a:r>
            <a:r>
              <a:rPr dirty="0">
                <a:latin typeface="Arial MT"/>
                <a:cs typeface="Arial MT"/>
              </a:rPr>
              <a:t>:</a:t>
            </a:r>
            <a:r>
              <a:rPr dirty="0" spc="9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Conception</a:t>
            </a:r>
            <a:r>
              <a:rPr dirty="0" spc="9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MCD/MLD</a:t>
            </a:r>
            <a:r>
              <a:rPr dirty="0" spc="9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et</a:t>
            </a:r>
            <a:r>
              <a:rPr dirty="0" spc="9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Maquettes</a:t>
            </a:r>
            <a:r>
              <a:rPr dirty="0" spc="95">
                <a:latin typeface="Arial MT"/>
                <a:cs typeface="Arial MT"/>
              </a:rPr>
              <a:t> </a:t>
            </a:r>
            <a:r>
              <a:rPr dirty="0" spc="-25">
                <a:latin typeface="Arial MT"/>
                <a:cs typeface="Arial MT"/>
              </a:rPr>
              <a:t>UI.</a:t>
            </a: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35"/>
              <a:t>Mi-Mai</a:t>
            </a:r>
            <a:r>
              <a:rPr dirty="0" spc="5"/>
              <a:t> </a:t>
            </a:r>
            <a:r>
              <a:rPr dirty="0">
                <a:latin typeface="Arial MT"/>
                <a:cs typeface="Arial MT"/>
              </a:rPr>
              <a:t>:</a:t>
            </a:r>
            <a:r>
              <a:rPr dirty="0" spc="65">
                <a:latin typeface="Arial MT"/>
                <a:cs typeface="Arial MT"/>
              </a:rPr>
              <a:t> </a:t>
            </a:r>
            <a:r>
              <a:rPr dirty="0" spc="50">
                <a:latin typeface="Arial MT"/>
                <a:cs typeface="Arial MT"/>
              </a:rPr>
              <a:t>Intégration</a:t>
            </a:r>
            <a:r>
              <a:rPr dirty="0" spc="60">
                <a:latin typeface="Arial MT"/>
                <a:cs typeface="Arial MT"/>
              </a:rPr>
              <a:t> </a:t>
            </a:r>
            <a:r>
              <a:rPr dirty="0" spc="-35">
                <a:latin typeface="Arial MT"/>
                <a:cs typeface="Arial MT"/>
              </a:rPr>
              <a:t>HTML/CSS</a:t>
            </a:r>
            <a:r>
              <a:rPr dirty="0" spc="6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et</a:t>
            </a:r>
            <a:r>
              <a:rPr dirty="0" spc="6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première</a:t>
            </a:r>
            <a:r>
              <a:rPr dirty="0" spc="6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phase</a:t>
            </a:r>
            <a:r>
              <a:rPr dirty="0" spc="65"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JavaScript.</a:t>
            </a: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pc="-60"/>
              <a:t>Fin</a:t>
            </a:r>
            <a:r>
              <a:rPr dirty="0" spc="-25"/>
              <a:t> </a:t>
            </a:r>
            <a:r>
              <a:rPr dirty="0" spc="-45"/>
              <a:t>Mai</a:t>
            </a:r>
            <a:r>
              <a:rPr dirty="0" spc="-20"/>
              <a:t> </a:t>
            </a:r>
            <a:r>
              <a:rPr dirty="0">
                <a:latin typeface="Arial MT"/>
                <a:cs typeface="Arial MT"/>
              </a:rPr>
              <a:t>:</a:t>
            </a:r>
            <a:r>
              <a:rPr dirty="0" spc="3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Premier</a:t>
            </a:r>
            <a:r>
              <a:rPr dirty="0" spc="3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jet</a:t>
            </a:r>
            <a:r>
              <a:rPr dirty="0" spc="35">
                <a:latin typeface="Arial MT"/>
                <a:cs typeface="Arial MT"/>
              </a:rPr>
              <a:t> </a:t>
            </a:r>
            <a:r>
              <a:rPr dirty="0" spc="60">
                <a:latin typeface="Arial MT"/>
                <a:cs typeface="Arial MT"/>
              </a:rPr>
              <a:t>du</a:t>
            </a:r>
            <a:r>
              <a:rPr dirty="0" spc="3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code</a:t>
            </a:r>
            <a:r>
              <a:rPr dirty="0" spc="35">
                <a:latin typeface="Arial MT"/>
                <a:cs typeface="Arial MT"/>
              </a:rPr>
              <a:t> </a:t>
            </a:r>
            <a:r>
              <a:rPr dirty="0" spc="-40">
                <a:latin typeface="Arial MT"/>
                <a:cs typeface="Arial MT"/>
              </a:rPr>
              <a:t>PHP</a:t>
            </a:r>
            <a:r>
              <a:rPr dirty="0" spc="30"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(instable).</a:t>
            </a: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95"/>
              <a:t>16</a:t>
            </a:r>
            <a:r>
              <a:rPr dirty="0" spc="35"/>
              <a:t> </a:t>
            </a:r>
            <a:r>
              <a:rPr dirty="0" spc="-105"/>
              <a:t>Juin</a:t>
            </a:r>
            <a:r>
              <a:rPr dirty="0" spc="40"/>
              <a:t> </a:t>
            </a:r>
            <a:r>
              <a:rPr dirty="0" spc="-100"/>
              <a:t>2026</a:t>
            </a:r>
            <a:r>
              <a:rPr dirty="0" spc="40"/>
              <a:t> </a:t>
            </a:r>
            <a:r>
              <a:rPr dirty="0">
                <a:latin typeface="Arial MT"/>
                <a:cs typeface="Arial MT"/>
              </a:rPr>
              <a:t>:</a:t>
            </a:r>
            <a:r>
              <a:rPr dirty="0" spc="9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Version</a:t>
            </a:r>
            <a:r>
              <a:rPr dirty="0" spc="9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stable</a:t>
            </a:r>
            <a:r>
              <a:rPr dirty="0" spc="9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corrigée</a:t>
            </a:r>
            <a:r>
              <a:rPr dirty="0" spc="9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et</a:t>
            </a:r>
            <a:r>
              <a:rPr dirty="0" spc="9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épurée</a:t>
            </a:r>
            <a:r>
              <a:rPr dirty="0" spc="9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grâce</a:t>
            </a:r>
            <a:r>
              <a:rPr dirty="0" spc="9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aux</a:t>
            </a:r>
            <a:r>
              <a:rPr dirty="0" spc="9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retours</a:t>
            </a:r>
            <a:r>
              <a:rPr dirty="0" spc="9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</a:t>
            </a:r>
            <a:r>
              <a:rPr dirty="0" spc="95"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l’équipe.</a:t>
            </a: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pc="-60"/>
              <a:t>Fin</a:t>
            </a:r>
            <a:r>
              <a:rPr dirty="0" spc="5"/>
              <a:t> </a:t>
            </a:r>
            <a:r>
              <a:rPr dirty="0" spc="-105"/>
              <a:t>Juin</a:t>
            </a:r>
            <a:r>
              <a:rPr dirty="0" spc="10"/>
              <a:t> </a:t>
            </a:r>
            <a:r>
              <a:rPr dirty="0" spc="-100"/>
              <a:t>2026</a:t>
            </a:r>
            <a:r>
              <a:rPr dirty="0" spc="10"/>
              <a:t> </a:t>
            </a:r>
            <a:r>
              <a:rPr dirty="0">
                <a:latin typeface="Arial MT"/>
                <a:cs typeface="Arial MT"/>
              </a:rPr>
              <a:t>:</a:t>
            </a:r>
            <a:r>
              <a:rPr dirty="0" spc="6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Enrichissement</a:t>
            </a:r>
            <a:r>
              <a:rPr dirty="0" spc="60">
                <a:latin typeface="Arial MT"/>
                <a:cs typeface="Arial MT"/>
              </a:rPr>
              <a:t> du </a:t>
            </a:r>
            <a:r>
              <a:rPr dirty="0">
                <a:latin typeface="Arial MT"/>
                <a:cs typeface="Arial MT"/>
              </a:rPr>
              <a:t>projet</a:t>
            </a:r>
            <a:r>
              <a:rPr dirty="0" spc="65"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(Avis,</a:t>
            </a:r>
            <a:r>
              <a:rPr dirty="0" spc="6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Filtres,</a:t>
            </a:r>
            <a:r>
              <a:rPr dirty="0" spc="65"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Gamification).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424" y="1338960"/>
            <a:ext cx="71882" cy="718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424" y="1528749"/>
            <a:ext cx="71882" cy="718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4424" y="1718538"/>
            <a:ext cx="71882" cy="7188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4424" y="1908327"/>
            <a:ext cx="71882" cy="7188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11" name="object 11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670924" y="3125761"/>
            <a:ext cx="418465" cy="111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GreenMarket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10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16865"/>
          </a:xfrm>
          <a:custGeom>
            <a:avLst/>
            <a:gdLst/>
            <a:ahLst/>
            <a:cxnLst/>
            <a:rect l="l" t="t" r="r" b="b"/>
            <a:pathLst>
              <a:path w="5760085" h="316865">
                <a:moveTo>
                  <a:pt x="5759996" y="0"/>
                </a:moveTo>
                <a:lnTo>
                  <a:pt x="0" y="0"/>
                </a:lnTo>
                <a:lnTo>
                  <a:pt x="0" y="316763"/>
                </a:lnTo>
                <a:lnTo>
                  <a:pt x="5759996" y="316763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Stack</a:t>
            </a:r>
            <a:r>
              <a:rPr dirty="0" spc="15"/>
              <a:t> </a:t>
            </a:r>
            <a:r>
              <a:rPr dirty="0" spc="-10"/>
              <a:t>Technique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247" y="1053845"/>
            <a:ext cx="71882" cy="718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247" y="1243634"/>
            <a:ext cx="71882" cy="718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2247" y="1433423"/>
            <a:ext cx="71882" cy="718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247" y="1939531"/>
            <a:ext cx="71882" cy="718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2247" y="2129320"/>
            <a:ext cx="71882" cy="7188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2247" y="2319108"/>
            <a:ext cx="71882" cy="7188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1653" y="761295"/>
            <a:ext cx="2776220" cy="167068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80">
                <a:latin typeface="Arial Black"/>
                <a:cs typeface="Arial Black"/>
              </a:rPr>
              <a:t>Backend</a:t>
            </a:r>
            <a:r>
              <a:rPr dirty="0" sz="1000" spc="-40">
                <a:latin typeface="Arial Black"/>
                <a:cs typeface="Arial Black"/>
              </a:rPr>
              <a:t> </a:t>
            </a:r>
            <a:r>
              <a:rPr dirty="0" sz="1000" spc="-50">
                <a:latin typeface="Arial Black"/>
                <a:cs typeface="Arial Black"/>
              </a:rPr>
              <a:t>:</a:t>
            </a:r>
            <a:endParaRPr sz="1000">
              <a:latin typeface="Arial Black"/>
              <a:cs typeface="Arial Black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spc="-40">
                <a:latin typeface="Arial MT"/>
                <a:cs typeface="Arial MT"/>
              </a:rPr>
              <a:t>PHP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8.x</a:t>
            </a:r>
            <a:r>
              <a:rPr dirty="0" sz="1000" spc="-10">
                <a:latin typeface="Arial MT"/>
                <a:cs typeface="Arial MT"/>
              </a:rPr>
              <a:t> (Procédural)</a:t>
            </a:r>
            <a:endParaRPr sz="1000">
              <a:latin typeface="Arial MT"/>
              <a:cs typeface="Arial MT"/>
            </a:endParaRPr>
          </a:p>
          <a:p>
            <a:pPr marL="265430" marR="370205">
              <a:lnSpc>
                <a:spcPct val="124500"/>
              </a:lnSpc>
            </a:pPr>
            <a:r>
              <a:rPr dirty="0" sz="1000">
                <a:latin typeface="Arial MT"/>
                <a:cs typeface="Arial MT"/>
              </a:rPr>
              <a:t>Sessions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PHP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pour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l’authentification PDO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pour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la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sécurité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BDD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 spc="-50">
                <a:latin typeface="Arial Black"/>
                <a:cs typeface="Arial Black"/>
              </a:rPr>
              <a:t>Frontend</a:t>
            </a:r>
            <a:r>
              <a:rPr dirty="0" sz="1000" spc="-10">
                <a:latin typeface="Arial Black"/>
                <a:cs typeface="Arial Black"/>
              </a:rPr>
              <a:t> </a:t>
            </a:r>
            <a:r>
              <a:rPr dirty="0" sz="1000" spc="-50">
                <a:latin typeface="Arial Black"/>
                <a:cs typeface="Arial Black"/>
              </a:rPr>
              <a:t>:</a:t>
            </a:r>
            <a:endParaRPr sz="1000">
              <a:latin typeface="Arial Black"/>
              <a:cs typeface="Arial Black"/>
            </a:endParaRPr>
          </a:p>
          <a:p>
            <a:pPr marL="265430" marR="862965">
              <a:lnSpc>
                <a:spcPct val="124500"/>
              </a:lnSpc>
            </a:pPr>
            <a:r>
              <a:rPr dirty="0" sz="1000">
                <a:latin typeface="Arial MT"/>
                <a:cs typeface="Arial MT"/>
              </a:rPr>
              <a:t>HTML5,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CSS3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(Flexbox/Grid) JavaScript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Vanilla</a:t>
            </a:r>
            <a:endParaRPr sz="10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latin typeface="Arial MT"/>
                <a:cs typeface="Arial MT"/>
              </a:rPr>
              <a:t>Responsive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Design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&amp;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Thème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Sombre/Clair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0075" y="921385"/>
            <a:ext cx="71881" cy="7188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40075" y="1111173"/>
            <a:ext cx="71881" cy="7188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0075" y="1769097"/>
            <a:ext cx="71881" cy="7188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40075" y="1958886"/>
            <a:ext cx="71881" cy="7188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40075" y="2300503"/>
            <a:ext cx="71881" cy="7188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09481" y="628821"/>
            <a:ext cx="2752090" cy="1936114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100">
                <a:latin typeface="Arial Black"/>
                <a:cs typeface="Arial Black"/>
              </a:rPr>
              <a:t>Base</a:t>
            </a:r>
            <a:r>
              <a:rPr dirty="0" sz="1000" spc="-50">
                <a:latin typeface="Arial Black"/>
                <a:cs typeface="Arial Black"/>
              </a:rPr>
              <a:t> </a:t>
            </a:r>
            <a:r>
              <a:rPr dirty="0" sz="1000" spc="-55">
                <a:latin typeface="Arial Black"/>
                <a:cs typeface="Arial Black"/>
              </a:rPr>
              <a:t>de</a:t>
            </a:r>
            <a:r>
              <a:rPr dirty="0" sz="1000" spc="-50">
                <a:latin typeface="Arial Black"/>
                <a:cs typeface="Arial Black"/>
              </a:rPr>
              <a:t> </a:t>
            </a:r>
            <a:r>
              <a:rPr dirty="0" sz="1000" spc="-60">
                <a:latin typeface="Arial Black"/>
                <a:cs typeface="Arial Black"/>
              </a:rPr>
              <a:t>données</a:t>
            </a:r>
            <a:r>
              <a:rPr dirty="0" sz="1000" spc="-50">
                <a:latin typeface="Arial Black"/>
                <a:cs typeface="Arial Black"/>
              </a:rPr>
              <a:t> :</a:t>
            </a:r>
            <a:endParaRPr sz="1000">
              <a:latin typeface="Arial Black"/>
              <a:cs typeface="Arial Black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spc="-10">
                <a:latin typeface="Arial MT"/>
                <a:cs typeface="Arial MT"/>
              </a:rPr>
              <a:t>MySQL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dirty="0" sz="1000" spc="20">
                <a:latin typeface="Arial MT"/>
                <a:cs typeface="Arial MT"/>
              </a:rPr>
              <a:t>Architecture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modulaire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: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Compte,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Produit, </a:t>
            </a:r>
            <a:r>
              <a:rPr dirty="0" sz="1000" spc="10">
                <a:latin typeface="Arial MT"/>
                <a:cs typeface="Arial MT"/>
              </a:rPr>
              <a:t>Commande,</a:t>
            </a:r>
            <a:r>
              <a:rPr dirty="0" sz="1000" spc="16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Avis.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 spc="-50">
                <a:latin typeface="Arial Black"/>
                <a:cs typeface="Arial Black"/>
              </a:rPr>
              <a:t>Outils</a:t>
            </a:r>
            <a:r>
              <a:rPr dirty="0" sz="1000" spc="-35">
                <a:latin typeface="Arial Black"/>
                <a:cs typeface="Arial Black"/>
              </a:rPr>
              <a:t> </a:t>
            </a:r>
            <a:r>
              <a:rPr dirty="0" sz="1000" spc="-50">
                <a:latin typeface="Arial Black"/>
                <a:cs typeface="Arial Black"/>
              </a:rPr>
              <a:t>:</a:t>
            </a:r>
            <a:endParaRPr sz="1000">
              <a:latin typeface="Arial Black"/>
              <a:cs typeface="Arial Black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spc="-10">
                <a:latin typeface="Arial MT"/>
                <a:cs typeface="Arial MT"/>
              </a:rPr>
              <a:t>FIGMA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(Maquettage)</a:t>
            </a:r>
            <a:endParaRPr sz="1000">
              <a:latin typeface="Arial MT"/>
              <a:cs typeface="Arial MT"/>
            </a:endParaRPr>
          </a:p>
          <a:p>
            <a:pPr marL="265430" marR="257810">
              <a:lnSpc>
                <a:spcPct val="100000"/>
              </a:lnSpc>
              <a:spcBef>
                <a:spcPts val="290"/>
              </a:spcBef>
            </a:pPr>
            <a:r>
              <a:rPr dirty="0" sz="1000" spc="20">
                <a:latin typeface="Arial MT"/>
                <a:cs typeface="Arial MT"/>
              </a:rPr>
              <a:t>GitHub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(Hébergement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du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code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et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des </a:t>
            </a:r>
            <a:r>
              <a:rPr dirty="0" sz="1000" spc="-10">
                <a:latin typeface="Arial MT"/>
                <a:cs typeface="Arial MT"/>
              </a:rPr>
              <a:t>diagrammes)</a:t>
            </a:r>
            <a:endParaRPr sz="1000">
              <a:latin typeface="Arial MT"/>
              <a:cs typeface="Arial MT"/>
            </a:endParaRPr>
          </a:p>
          <a:p>
            <a:pPr marL="265430" marR="98679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Arial MT"/>
                <a:cs typeface="Arial MT"/>
              </a:rPr>
              <a:t>Outils</a:t>
            </a:r>
            <a:r>
              <a:rPr dirty="0" sz="1000" spc="10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</a:t>
            </a:r>
            <a:r>
              <a:rPr dirty="0" sz="1000" spc="100">
                <a:latin typeface="Arial MT"/>
                <a:cs typeface="Arial MT"/>
              </a:rPr>
              <a:t> </a:t>
            </a:r>
            <a:r>
              <a:rPr dirty="0" sz="1000" spc="35">
                <a:latin typeface="Arial MT"/>
                <a:cs typeface="Arial MT"/>
              </a:rPr>
              <a:t>communication </a:t>
            </a:r>
            <a:r>
              <a:rPr dirty="0" sz="1000" spc="-10">
                <a:latin typeface="Arial MT"/>
                <a:cs typeface="Arial MT"/>
              </a:rPr>
              <a:t>(Slack/WhatsApp)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18" name="object 18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670924" y="3125761"/>
            <a:ext cx="418465" cy="111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GreenMarket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10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16865"/>
          </a:xfrm>
          <a:custGeom>
            <a:avLst/>
            <a:gdLst/>
            <a:ahLst/>
            <a:cxnLst/>
            <a:rect l="l" t="t" r="r" b="b"/>
            <a:pathLst>
              <a:path w="5760085" h="316865">
                <a:moveTo>
                  <a:pt x="5759996" y="0"/>
                </a:moveTo>
                <a:lnTo>
                  <a:pt x="0" y="0"/>
                </a:lnTo>
                <a:lnTo>
                  <a:pt x="0" y="316763"/>
                </a:lnTo>
                <a:lnTo>
                  <a:pt x="5759996" y="316763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75"/>
              <a:t>Modules</a:t>
            </a:r>
            <a:r>
              <a:rPr dirty="0" spc="-20"/>
              <a:t> </a:t>
            </a:r>
            <a:r>
              <a:rPr dirty="0" spc="55"/>
              <a:t>fonctionnels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247" y="982116"/>
            <a:ext cx="71882" cy="718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247" y="1171905"/>
            <a:ext cx="71882" cy="718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2247" y="1513522"/>
            <a:ext cx="71882" cy="718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247" y="2019617"/>
            <a:ext cx="71882" cy="718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2247" y="2209406"/>
            <a:ext cx="71882" cy="718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653" y="689553"/>
            <a:ext cx="2576830" cy="17843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45">
                <a:latin typeface="Arial Black"/>
                <a:cs typeface="Arial Black"/>
              </a:rPr>
              <a:t>Authentification</a:t>
            </a:r>
            <a:r>
              <a:rPr dirty="0" sz="1000" spc="-25">
                <a:latin typeface="Arial Black"/>
                <a:cs typeface="Arial Black"/>
              </a:rPr>
              <a:t> </a:t>
            </a:r>
            <a:r>
              <a:rPr dirty="0" sz="1000" spc="-150">
                <a:latin typeface="Arial Black"/>
                <a:cs typeface="Arial Black"/>
              </a:rPr>
              <a:t>&amp;</a:t>
            </a:r>
            <a:r>
              <a:rPr dirty="0" sz="1000" spc="-25">
                <a:latin typeface="Arial Black"/>
                <a:cs typeface="Arial Black"/>
              </a:rPr>
              <a:t> </a:t>
            </a:r>
            <a:r>
              <a:rPr dirty="0" sz="1000" spc="-75">
                <a:latin typeface="Arial Black"/>
                <a:cs typeface="Arial Black"/>
              </a:rPr>
              <a:t>Sécurité</a:t>
            </a:r>
            <a:r>
              <a:rPr dirty="0" sz="1000" spc="-20">
                <a:latin typeface="Arial Black"/>
                <a:cs typeface="Arial Black"/>
              </a:rPr>
              <a:t> </a:t>
            </a:r>
            <a:r>
              <a:rPr dirty="0" sz="1000" spc="-50">
                <a:latin typeface="Arial Black"/>
                <a:cs typeface="Arial Black"/>
              </a:rPr>
              <a:t>:</a:t>
            </a:r>
            <a:endParaRPr sz="1000">
              <a:latin typeface="Arial Black"/>
              <a:cs typeface="Arial Black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spc="-120">
                <a:latin typeface="Arial Black"/>
                <a:cs typeface="Arial Black"/>
              </a:rPr>
              <a:t>CAPTCHA</a:t>
            </a:r>
            <a:r>
              <a:rPr dirty="0" sz="1000" spc="-30">
                <a:latin typeface="Arial Black"/>
                <a:cs typeface="Arial Black"/>
              </a:rPr>
              <a:t> </a:t>
            </a:r>
            <a:r>
              <a:rPr dirty="0" sz="1000" spc="-45">
                <a:latin typeface="Arial Black"/>
                <a:cs typeface="Arial Black"/>
              </a:rPr>
              <a:t>mathématique</a:t>
            </a:r>
            <a:r>
              <a:rPr dirty="0" sz="1000" spc="-25">
                <a:latin typeface="Arial Black"/>
                <a:cs typeface="Arial Black"/>
              </a:rPr>
              <a:t> </a:t>
            </a:r>
            <a:r>
              <a:rPr dirty="0" sz="1000" spc="-10">
                <a:latin typeface="Arial MT"/>
                <a:cs typeface="Arial MT"/>
              </a:rPr>
              <a:t>dynamique.</a:t>
            </a:r>
            <a:endParaRPr sz="1000">
              <a:latin typeface="Arial MT"/>
              <a:cs typeface="Arial MT"/>
            </a:endParaRPr>
          </a:p>
          <a:p>
            <a:pPr marL="265430" marR="215265">
              <a:lnSpc>
                <a:spcPct val="100000"/>
              </a:lnSpc>
              <a:spcBef>
                <a:spcPts val="290"/>
              </a:spcBef>
            </a:pPr>
            <a:r>
              <a:rPr dirty="0" sz="1000" spc="-55">
                <a:latin typeface="Arial Black"/>
                <a:cs typeface="Arial Black"/>
              </a:rPr>
              <a:t>Question</a:t>
            </a:r>
            <a:r>
              <a:rPr dirty="0" sz="1000" spc="90">
                <a:latin typeface="Arial Black"/>
                <a:cs typeface="Arial Black"/>
              </a:rPr>
              <a:t> </a:t>
            </a:r>
            <a:r>
              <a:rPr dirty="0" sz="1000" spc="-85">
                <a:latin typeface="Arial Black"/>
                <a:cs typeface="Arial Black"/>
              </a:rPr>
              <a:t>secrète</a:t>
            </a:r>
            <a:r>
              <a:rPr dirty="0" sz="1000" spc="95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(récupération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de </a:t>
            </a:r>
            <a:r>
              <a:rPr dirty="0" sz="1000" spc="-10">
                <a:latin typeface="Arial MT"/>
                <a:cs typeface="Arial MT"/>
              </a:rPr>
              <a:t>compte).</a:t>
            </a:r>
            <a:endParaRPr sz="10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Arial MT"/>
                <a:cs typeface="Arial MT"/>
              </a:rPr>
              <a:t>Hachage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sécurisé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des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mots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passe.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60">
                <a:latin typeface="Arial Black"/>
                <a:cs typeface="Arial Black"/>
              </a:rPr>
              <a:t>Catalogue</a:t>
            </a:r>
            <a:r>
              <a:rPr dirty="0" sz="1000" spc="-50">
                <a:latin typeface="Arial Black"/>
                <a:cs typeface="Arial Black"/>
              </a:rPr>
              <a:t> </a:t>
            </a:r>
            <a:r>
              <a:rPr dirty="0" sz="1000" spc="-55">
                <a:latin typeface="Arial Black"/>
                <a:cs typeface="Arial Black"/>
              </a:rPr>
              <a:t>et</a:t>
            </a:r>
            <a:r>
              <a:rPr dirty="0" sz="1000" spc="-45">
                <a:latin typeface="Arial Black"/>
                <a:cs typeface="Arial Black"/>
              </a:rPr>
              <a:t> </a:t>
            </a:r>
            <a:r>
              <a:rPr dirty="0" sz="1000" spc="-75">
                <a:latin typeface="Arial Black"/>
                <a:cs typeface="Arial Black"/>
              </a:rPr>
              <a:t>Commerce</a:t>
            </a:r>
            <a:r>
              <a:rPr dirty="0" sz="1000" spc="-45">
                <a:latin typeface="Arial Black"/>
                <a:cs typeface="Arial Black"/>
              </a:rPr>
              <a:t> </a:t>
            </a:r>
            <a:r>
              <a:rPr dirty="0" sz="1000" spc="-50">
                <a:latin typeface="Arial Black"/>
                <a:cs typeface="Arial Black"/>
              </a:rPr>
              <a:t>:</a:t>
            </a:r>
            <a:endParaRPr sz="1000">
              <a:latin typeface="Arial Black"/>
              <a:cs typeface="Arial Black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latin typeface="Arial MT"/>
                <a:cs typeface="Arial MT"/>
              </a:rPr>
              <a:t>Recherche</a:t>
            </a:r>
            <a:r>
              <a:rPr dirty="0" sz="1000" spc="3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multi-</a:t>
            </a:r>
            <a:r>
              <a:rPr dirty="0" sz="1000" spc="-10">
                <a:latin typeface="Arial MT"/>
                <a:cs typeface="Arial MT"/>
              </a:rPr>
              <a:t>critères.</a:t>
            </a:r>
            <a:endParaRPr sz="1000">
              <a:latin typeface="Arial MT"/>
              <a:cs typeface="Arial MT"/>
            </a:endParaRPr>
          </a:p>
          <a:p>
            <a:pPr marL="265430" marR="317500">
              <a:lnSpc>
                <a:spcPct val="100000"/>
              </a:lnSpc>
              <a:spcBef>
                <a:spcPts val="290"/>
              </a:spcBef>
            </a:pPr>
            <a:r>
              <a:rPr dirty="0" sz="1000" spc="20">
                <a:latin typeface="Arial MT"/>
                <a:cs typeface="Arial MT"/>
              </a:rPr>
              <a:t>Panier</a:t>
            </a:r>
            <a:r>
              <a:rPr dirty="0" sz="1000" spc="6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dynamique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et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paiements </a:t>
            </a:r>
            <a:r>
              <a:rPr dirty="0" sz="1000">
                <a:latin typeface="Arial MT"/>
                <a:cs typeface="Arial MT"/>
              </a:rPr>
              <a:t>diversifiés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(Carte,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PayPal,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Crypto).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0075" y="1076947"/>
            <a:ext cx="71881" cy="7188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0075" y="1266736"/>
            <a:ext cx="71881" cy="7188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09481" y="784383"/>
            <a:ext cx="2740025" cy="7467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60">
                <a:latin typeface="Arial Black"/>
                <a:cs typeface="Arial Black"/>
              </a:rPr>
              <a:t>Gamification</a:t>
            </a:r>
            <a:r>
              <a:rPr dirty="0" sz="1000" spc="15">
                <a:latin typeface="Arial Black"/>
                <a:cs typeface="Arial Black"/>
              </a:rPr>
              <a:t> </a:t>
            </a:r>
            <a:r>
              <a:rPr dirty="0" sz="1000" spc="-50">
                <a:latin typeface="Arial Black"/>
                <a:cs typeface="Arial Black"/>
              </a:rPr>
              <a:t>:</a:t>
            </a:r>
            <a:endParaRPr sz="1000">
              <a:latin typeface="Arial Black"/>
              <a:cs typeface="Arial Black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spc="-70">
                <a:latin typeface="Arial Black"/>
                <a:cs typeface="Arial Black"/>
              </a:rPr>
              <a:t>Clients</a:t>
            </a:r>
            <a:r>
              <a:rPr dirty="0" sz="1000" spc="-20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Points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fidélité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(1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DH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=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pt).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dirty="0" sz="1000" spc="-65">
                <a:latin typeface="Arial Black"/>
                <a:cs typeface="Arial Black"/>
              </a:rPr>
              <a:t>Producteurs</a:t>
            </a:r>
            <a:r>
              <a:rPr dirty="0" sz="1000" spc="35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Badges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qualité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(Bronze, </a:t>
            </a:r>
            <a:r>
              <a:rPr dirty="0" sz="1000">
                <a:latin typeface="Arial MT"/>
                <a:cs typeface="Arial MT"/>
              </a:rPr>
              <a:t>Argent,</a:t>
            </a:r>
            <a:r>
              <a:rPr dirty="0" sz="1000" spc="7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Or)</a:t>
            </a:r>
            <a:r>
              <a:rPr dirty="0" sz="1000" spc="7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selon</a:t>
            </a:r>
            <a:r>
              <a:rPr dirty="0" sz="1000" spc="8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les</a:t>
            </a:r>
            <a:r>
              <a:rPr dirty="0" sz="1000" spc="7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ventes.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40075" y="1924659"/>
            <a:ext cx="71881" cy="7188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40075" y="2114448"/>
            <a:ext cx="71881" cy="7188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909481" y="1632109"/>
            <a:ext cx="2522855" cy="7467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85">
                <a:latin typeface="Arial Black"/>
                <a:cs typeface="Arial Black"/>
              </a:rPr>
              <a:t>Système</a:t>
            </a:r>
            <a:r>
              <a:rPr dirty="0" sz="1000" spc="-40">
                <a:latin typeface="Arial Black"/>
                <a:cs typeface="Arial Black"/>
              </a:rPr>
              <a:t> </a:t>
            </a:r>
            <a:r>
              <a:rPr dirty="0" sz="1000" spc="-85">
                <a:latin typeface="Arial Black"/>
                <a:cs typeface="Arial Black"/>
              </a:rPr>
              <a:t>d’Avis</a:t>
            </a:r>
            <a:r>
              <a:rPr dirty="0" sz="1000" spc="-40">
                <a:latin typeface="Arial Black"/>
                <a:cs typeface="Arial Black"/>
              </a:rPr>
              <a:t> </a:t>
            </a:r>
            <a:r>
              <a:rPr dirty="0" sz="1000" spc="-50">
                <a:latin typeface="Arial Black"/>
                <a:cs typeface="Arial Black"/>
              </a:rPr>
              <a:t>:</a:t>
            </a:r>
            <a:endParaRPr sz="1000">
              <a:latin typeface="Arial Black"/>
              <a:cs typeface="Arial Black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spc="50">
                <a:latin typeface="Arial MT"/>
                <a:cs typeface="Arial MT"/>
              </a:rPr>
              <a:t>Notation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(1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à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5)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+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commentaires.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dirty="0" sz="1000" spc="-40">
                <a:latin typeface="Arial Black"/>
                <a:cs typeface="Arial Black"/>
              </a:rPr>
              <a:t>Modération</a:t>
            </a:r>
            <a:r>
              <a:rPr dirty="0" sz="1000" spc="20">
                <a:latin typeface="Arial Black"/>
                <a:cs typeface="Arial Black"/>
              </a:rPr>
              <a:t> </a:t>
            </a:r>
            <a:r>
              <a:rPr dirty="0" sz="1000" spc="-70">
                <a:latin typeface="Arial Black"/>
                <a:cs typeface="Arial Black"/>
              </a:rPr>
              <a:t>stricte</a:t>
            </a:r>
            <a:r>
              <a:rPr dirty="0" sz="1000" spc="20">
                <a:latin typeface="Arial Black"/>
                <a:cs typeface="Arial Black"/>
              </a:rPr>
              <a:t> </a:t>
            </a:r>
            <a:r>
              <a:rPr dirty="0" sz="1000">
                <a:latin typeface="Arial MT"/>
                <a:cs typeface="Arial MT"/>
              </a:rPr>
              <a:t>par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l’Admin</a:t>
            </a:r>
            <a:r>
              <a:rPr dirty="0" sz="1000" spc="7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avant publication.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17" name="object 17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670924" y="3125761"/>
            <a:ext cx="418465" cy="111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GreenMarket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10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16865"/>
          </a:xfrm>
          <a:custGeom>
            <a:avLst/>
            <a:gdLst/>
            <a:ahLst/>
            <a:cxnLst/>
            <a:rect l="l" t="t" r="r" b="b"/>
            <a:pathLst>
              <a:path w="5760085" h="316865">
                <a:moveTo>
                  <a:pt x="5759996" y="0"/>
                </a:moveTo>
                <a:lnTo>
                  <a:pt x="0" y="0"/>
                </a:lnTo>
                <a:lnTo>
                  <a:pt x="0" y="316763"/>
                </a:lnTo>
                <a:lnTo>
                  <a:pt x="5759996" y="316763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Espaces</a:t>
            </a:r>
            <a:r>
              <a:rPr dirty="0" spc="-75"/>
              <a:t> </a:t>
            </a:r>
            <a:r>
              <a:rPr dirty="0" spc="45"/>
              <a:t>Utilisateurs</a:t>
            </a:r>
          </a:p>
        </p:txBody>
      </p:sp>
      <p:sp>
        <p:nvSpPr>
          <p:cNvPr id="4" name="object 4"/>
          <p:cNvSpPr/>
          <p:nvPr/>
        </p:nvSpPr>
        <p:spPr>
          <a:xfrm>
            <a:off x="75729" y="594194"/>
            <a:ext cx="5608955" cy="215265"/>
          </a:xfrm>
          <a:custGeom>
            <a:avLst/>
            <a:gdLst/>
            <a:ahLst/>
            <a:cxnLst/>
            <a:rect l="l" t="t" r="r" b="b"/>
            <a:pathLst>
              <a:path w="5608955" h="215265">
                <a:moveTo>
                  <a:pt x="555782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608620" y="215238"/>
                </a:lnTo>
                <a:lnTo>
                  <a:pt x="5608620" y="50800"/>
                </a:lnTo>
                <a:lnTo>
                  <a:pt x="5604612" y="31075"/>
                </a:lnTo>
                <a:lnTo>
                  <a:pt x="5593698" y="14922"/>
                </a:lnTo>
                <a:lnTo>
                  <a:pt x="5577545" y="4008"/>
                </a:lnTo>
                <a:lnTo>
                  <a:pt x="5557820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6530" y="585380"/>
            <a:ext cx="94234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Espace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Client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5729" y="651129"/>
            <a:ext cx="5659755" cy="589915"/>
            <a:chOff x="75729" y="651129"/>
            <a:chExt cx="5659755" cy="5899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796785"/>
              <a:ext cx="560862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6530" y="651129"/>
              <a:ext cx="5608955" cy="589915"/>
            </a:xfrm>
            <a:custGeom>
              <a:avLst/>
              <a:gdLst/>
              <a:ahLst/>
              <a:cxnLst/>
              <a:rect l="l" t="t" r="r" b="b"/>
              <a:pathLst>
                <a:path w="5608955" h="589915">
                  <a:moveTo>
                    <a:pt x="5608620" y="0"/>
                  </a:moveTo>
                  <a:lnTo>
                    <a:pt x="0" y="0"/>
                  </a:lnTo>
                  <a:lnTo>
                    <a:pt x="0" y="589584"/>
                  </a:lnTo>
                  <a:lnTo>
                    <a:pt x="5608620" y="589584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5729" y="841063"/>
              <a:ext cx="5608955" cy="349250"/>
            </a:xfrm>
            <a:custGeom>
              <a:avLst/>
              <a:gdLst/>
              <a:ahLst/>
              <a:cxnLst/>
              <a:rect l="l" t="t" r="r" b="b"/>
              <a:pathLst>
                <a:path w="5608955" h="349250">
                  <a:moveTo>
                    <a:pt x="5608620" y="0"/>
                  </a:moveTo>
                  <a:lnTo>
                    <a:pt x="0" y="0"/>
                  </a:lnTo>
                  <a:lnTo>
                    <a:pt x="0" y="298050"/>
                  </a:lnTo>
                  <a:lnTo>
                    <a:pt x="4008" y="317775"/>
                  </a:lnTo>
                  <a:lnTo>
                    <a:pt x="14922" y="333928"/>
                  </a:lnTo>
                  <a:lnTo>
                    <a:pt x="31075" y="344842"/>
                  </a:lnTo>
                  <a:lnTo>
                    <a:pt x="50800" y="348850"/>
                  </a:lnTo>
                  <a:lnTo>
                    <a:pt x="5557820" y="348850"/>
                  </a:lnTo>
                  <a:lnTo>
                    <a:pt x="5577545" y="344842"/>
                  </a:lnTo>
                  <a:lnTo>
                    <a:pt x="5593698" y="333928"/>
                  </a:lnTo>
                  <a:lnTo>
                    <a:pt x="5604612" y="317775"/>
                  </a:lnTo>
                  <a:lnTo>
                    <a:pt x="5608620" y="29805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5729" y="824056"/>
            <a:ext cx="565975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 marR="9715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MT"/>
                <a:cs typeface="Arial MT"/>
              </a:rPr>
              <a:t>Dashboard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personnalisé,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historique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des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achats,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suivi</a:t>
            </a:r>
            <a:r>
              <a:rPr dirty="0" sz="1000" spc="1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des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points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fidélité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et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dépôt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d’avis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sur </a:t>
            </a:r>
            <a:r>
              <a:rPr dirty="0" sz="1000" spc="20">
                <a:latin typeface="Arial MT"/>
                <a:cs typeface="Arial MT"/>
              </a:rPr>
              <a:t>les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produits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achetés.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729" y="1405102"/>
            <a:ext cx="5608955" cy="215265"/>
          </a:xfrm>
          <a:custGeom>
            <a:avLst/>
            <a:gdLst/>
            <a:ahLst/>
            <a:cxnLst/>
            <a:rect l="l" t="t" r="r" b="b"/>
            <a:pathLst>
              <a:path w="5608955" h="215265">
                <a:moveTo>
                  <a:pt x="555782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608620" y="215238"/>
                </a:lnTo>
                <a:lnTo>
                  <a:pt x="5608620" y="50800"/>
                </a:lnTo>
                <a:lnTo>
                  <a:pt x="5604612" y="31075"/>
                </a:lnTo>
                <a:lnTo>
                  <a:pt x="5593698" y="14922"/>
                </a:lnTo>
                <a:lnTo>
                  <a:pt x="5577545" y="4008"/>
                </a:lnTo>
                <a:lnTo>
                  <a:pt x="5557820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6530" y="1396287"/>
            <a:ext cx="133413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Espace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Producteur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729" y="1462025"/>
            <a:ext cx="5659755" cy="589915"/>
            <a:chOff x="75729" y="1462025"/>
            <a:chExt cx="5659755" cy="58991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1607680"/>
              <a:ext cx="560862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6530" y="1462025"/>
              <a:ext cx="5608955" cy="589915"/>
            </a:xfrm>
            <a:custGeom>
              <a:avLst/>
              <a:gdLst/>
              <a:ahLst/>
              <a:cxnLst/>
              <a:rect l="l" t="t" r="r" b="b"/>
              <a:pathLst>
                <a:path w="5608955" h="589914">
                  <a:moveTo>
                    <a:pt x="5608620" y="0"/>
                  </a:moveTo>
                  <a:lnTo>
                    <a:pt x="0" y="0"/>
                  </a:lnTo>
                  <a:lnTo>
                    <a:pt x="0" y="589584"/>
                  </a:lnTo>
                  <a:lnTo>
                    <a:pt x="5608620" y="589584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5729" y="1651958"/>
              <a:ext cx="5608955" cy="349250"/>
            </a:xfrm>
            <a:custGeom>
              <a:avLst/>
              <a:gdLst/>
              <a:ahLst/>
              <a:cxnLst/>
              <a:rect l="l" t="t" r="r" b="b"/>
              <a:pathLst>
                <a:path w="5608955" h="349250">
                  <a:moveTo>
                    <a:pt x="5608620" y="0"/>
                  </a:moveTo>
                  <a:lnTo>
                    <a:pt x="0" y="0"/>
                  </a:lnTo>
                  <a:lnTo>
                    <a:pt x="0" y="298050"/>
                  </a:lnTo>
                  <a:lnTo>
                    <a:pt x="4008" y="317775"/>
                  </a:lnTo>
                  <a:lnTo>
                    <a:pt x="14922" y="333928"/>
                  </a:lnTo>
                  <a:lnTo>
                    <a:pt x="31075" y="344842"/>
                  </a:lnTo>
                  <a:lnTo>
                    <a:pt x="50800" y="348850"/>
                  </a:lnTo>
                  <a:lnTo>
                    <a:pt x="5557820" y="348850"/>
                  </a:lnTo>
                  <a:lnTo>
                    <a:pt x="5577545" y="344842"/>
                  </a:lnTo>
                  <a:lnTo>
                    <a:pt x="5593698" y="333928"/>
                  </a:lnTo>
                  <a:lnTo>
                    <a:pt x="5604612" y="317775"/>
                  </a:lnTo>
                  <a:lnTo>
                    <a:pt x="5608620" y="29805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5729" y="1634964"/>
            <a:ext cx="565975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 marR="126364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MT"/>
                <a:cs typeface="Arial MT"/>
              </a:rPr>
              <a:t>Gestion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complète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du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catalogue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(CRUD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Produits),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suivi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des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statistiques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ventes,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notification </a:t>
            </a:r>
            <a:r>
              <a:rPr dirty="0" sz="1000" spc="10">
                <a:latin typeface="Arial MT"/>
                <a:cs typeface="Arial MT"/>
              </a:rPr>
              <a:t>des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avis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et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visualisation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des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badges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débloqués.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729" y="2215997"/>
            <a:ext cx="5608955" cy="215265"/>
          </a:xfrm>
          <a:custGeom>
            <a:avLst/>
            <a:gdLst/>
            <a:ahLst/>
            <a:cxnLst/>
            <a:rect l="l" t="t" r="r" b="b"/>
            <a:pathLst>
              <a:path w="5608955" h="215264">
                <a:moveTo>
                  <a:pt x="555782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608620" y="215238"/>
                </a:lnTo>
                <a:lnTo>
                  <a:pt x="5608620" y="50800"/>
                </a:lnTo>
                <a:lnTo>
                  <a:pt x="5604612" y="31075"/>
                </a:lnTo>
                <a:lnTo>
                  <a:pt x="5593698" y="14922"/>
                </a:lnTo>
                <a:lnTo>
                  <a:pt x="5577545" y="4008"/>
                </a:lnTo>
                <a:lnTo>
                  <a:pt x="5557820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26530" y="2207182"/>
            <a:ext cx="160782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Espace</a:t>
            </a: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Administrateur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5729" y="2272932"/>
            <a:ext cx="5659755" cy="589915"/>
            <a:chOff x="75729" y="2272932"/>
            <a:chExt cx="5659755" cy="58991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29" y="2418587"/>
              <a:ext cx="5608620" cy="5060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6530" y="2272932"/>
              <a:ext cx="5608955" cy="589915"/>
            </a:xfrm>
            <a:custGeom>
              <a:avLst/>
              <a:gdLst/>
              <a:ahLst/>
              <a:cxnLst/>
              <a:rect l="l" t="t" r="r" b="b"/>
              <a:pathLst>
                <a:path w="5608955" h="589914">
                  <a:moveTo>
                    <a:pt x="5608620" y="0"/>
                  </a:moveTo>
                  <a:lnTo>
                    <a:pt x="0" y="0"/>
                  </a:lnTo>
                  <a:lnTo>
                    <a:pt x="0" y="589584"/>
                  </a:lnTo>
                  <a:lnTo>
                    <a:pt x="5608620" y="589584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5729" y="2462865"/>
              <a:ext cx="5608955" cy="349250"/>
            </a:xfrm>
            <a:custGeom>
              <a:avLst/>
              <a:gdLst/>
              <a:ahLst/>
              <a:cxnLst/>
              <a:rect l="l" t="t" r="r" b="b"/>
              <a:pathLst>
                <a:path w="5608955" h="349250">
                  <a:moveTo>
                    <a:pt x="5608620" y="0"/>
                  </a:moveTo>
                  <a:lnTo>
                    <a:pt x="0" y="0"/>
                  </a:lnTo>
                  <a:lnTo>
                    <a:pt x="0" y="298050"/>
                  </a:lnTo>
                  <a:lnTo>
                    <a:pt x="4008" y="317775"/>
                  </a:lnTo>
                  <a:lnTo>
                    <a:pt x="14922" y="333928"/>
                  </a:lnTo>
                  <a:lnTo>
                    <a:pt x="31075" y="344842"/>
                  </a:lnTo>
                  <a:lnTo>
                    <a:pt x="50800" y="348850"/>
                  </a:lnTo>
                  <a:lnTo>
                    <a:pt x="5557820" y="348850"/>
                  </a:lnTo>
                  <a:lnTo>
                    <a:pt x="5577545" y="344842"/>
                  </a:lnTo>
                  <a:lnTo>
                    <a:pt x="5593698" y="333928"/>
                  </a:lnTo>
                  <a:lnTo>
                    <a:pt x="5604612" y="317775"/>
                  </a:lnTo>
                  <a:lnTo>
                    <a:pt x="5608620" y="29805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5729" y="2445872"/>
            <a:ext cx="565975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 marR="37465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MT"/>
                <a:cs typeface="Arial MT"/>
              </a:rPr>
              <a:t>Tour</a:t>
            </a:r>
            <a:r>
              <a:rPr dirty="0" sz="1000" spc="18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</a:t>
            </a:r>
            <a:r>
              <a:rPr dirty="0" sz="1000" spc="1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contrôle</a:t>
            </a:r>
            <a:r>
              <a:rPr dirty="0" sz="1000" spc="18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1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Modération</a:t>
            </a:r>
            <a:r>
              <a:rPr dirty="0" sz="1000" spc="1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des</a:t>
            </a:r>
            <a:r>
              <a:rPr dirty="0" sz="1000" spc="18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avis</a:t>
            </a:r>
            <a:r>
              <a:rPr dirty="0" sz="1000" spc="1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(validation/rejet),</a:t>
            </a:r>
            <a:r>
              <a:rPr dirty="0" sz="1000" spc="1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supervision</a:t>
            </a:r>
            <a:r>
              <a:rPr dirty="0" sz="1000" spc="18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des</a:t>
            </a:r>
            <a:r>
              <a:rPr dirty="0" sz="1000" spc="1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commandes,</a:t>
            </a:r>
            <a:r>
              <a:rPr dirty="0" sz="1000" spc="18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et </a:t>
            </a:r>
            <a:r>
              <a:rPr dirty="0" sz="1000" spc="10">
                <a:latin typeface="Arial MT"/>
                <a:cs typeface="Arial MT"/>
              </a:rPr>
              <a:t>gestion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globale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de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la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plateforme.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26" name="object 26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670924" y="3125761"/>
            <a:ext cx="418465" cy="111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GreenMarket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10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16865"/>
          </a:xfrm>
          <a:custGeom>
            <a:avLst/>
            <a:gdLst/>
            <a:ahLst/>
            <a:cxnLst/>
            <a:rect l="l" t="t" r="r" b="b"/>
            <a:pathLst>
              <a:path w="5760085" h="316865">
                <a:moveTo>
                  <a:pt x="5759996" y="0"/>
                </a:moveTo>
                <a:lnTo>
                  <a:pt x="0" y="0"/>
                </a:lnTo>
                <a:lnTo>
                  <a:pt x="0" y="316763"/>
                </a:lnTo>
                <a:lnTo>
                  <a:pt x="5759996" y="316763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Obstacles</a:t>
            </a:r>
            <a:r>
              <a:rPr dirty="0" spc="135"/>
              <a:t> </a:t>
            </a:r>
            <a:r>
              <a:rPr dirty="0" spc="80"/>
              <a:t>et</a:t>
            </a:r>
            <a:r>
              <a:rPr dirty="0" spc="135"/>
              <a:t> </a:t>
            </a:r>
            <a:r>
              <a:rPr dirty="0" spc="55"/>
              <a:t>résolutions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424" y="855637"/>
            <a:ext cx="71882" cy="718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pc="-80"/>
              <a:t>Code</a:t>
            </a:r>
            <a:r>
              <a:rPr dirty="0" spc="-50"/>
              <a:t> </a:t>
            </a:r>
            <a:r>
              <a:rPr dirty="0" spc="-95"/>
              <a:t>PHP</a:t>
            </a:r>
            <a:r>
              <a:rPr dirty="0" spc="-50"/>
              <a:t> </a:t>
            </a:r>
            <a:r>
              <a:rPr dirty="0" spc="-40"/>
              <a:t>initial</a:t>
            </a:r>
            <a:r>
              <a:rPr dirty="0" spc="-50"/>
              <a:t> </a:t>
            </a:r>
            <a:r>
              <a:rPr dirty="0" spc="-55"/>
              <a:t>instable</a:t>
            </a:r>
            <a:r>
              <a:rPr dirty="0" spc="-50"/>
              <a:t> :</a:t>
            </a:r>
          </a:p>
          <a:p>
            <a:pPr marL="12700" marR="5080">
              <a:lnSpc>
                <a:spcPts val="1200"/>
              </a:lnSpc>
              <a:spcBef>
                <a:spcPts val="40"/>
              </a:spcBef>
            </a:pPr>
            <a:r>
              <a:rPr dirty="0" spc="-20" i="1">
                <a:latin typeface="Trebuchet MS"/>
                <a:cs typeface="Trebuchet MS"/>
              </a:rPr>
              <a:t>Solution</a:t>
            </a:r>
            <a:r>
              <a:rPr dirty="0" spc="100" i="1">
                <a:latin typeface="Trebuchet MS"/>
                <a:cs typeface="Trebuchet MS"/>
              </a:rPr>
              <a:t> </a:t>
            </a:r>
            <a:r>
              <a:rPr dirty="0" spc="-114" i="1">
                <a:latin typeface="Trebuchet MS"/>
                <a:cs typeface="Trebuchet MS"/>
              </a:rPr>
              <a:t>:</a:t>
            </a:r>
            <a:r>
              <a:rPr dirty="0" spc="100" i="1">
                <a:latin typeface="Trebuchet MS"/>
                <a:cs typeface="Trebuchet MS"/>
              </a:rPr>
              <a:t> </a:t>
            </a:r>
            <a:r>
              <a:rPr dirty="0">
                <a:latin typeface="Arial MT"/>
                <a:cs typeface="Arial MT"/>
              </a:rPr>
              <a:t>Travail</a:t>
            </a:r>
            <a:r>
              <a:rPr dirty="0" spc="12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collaboratif</a:t>
            </a:r>
            <a:r>
              <a:rPr dirty="0" spc="12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intensif.</a:t>
            </a:r>
            <a:r>
              <a:rPr dirty="0" spc="13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Sous</a:t>
            </a:r>
            <a:r>
              <a:rPr dirty="0" spc="12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la</a:t>
            </a:r>
            <a:r>
              <a:rPr dirty="0" spc="12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supervision</a:t>
            </a:r>
            <a:r>
              <a:rPr dirty="0" spc="12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technique</a:t>
            </a:r>
            <a:r>
              <a:rPr dirty="0" spc="12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</a:t>
            </a:r>
            <a:r>
              <a:rPr dirty="0" spc="130">
                <a:latin typeface="Arial MT"/>
                <a:cs typeface="Arial MT"/>
              </a:rPr>
              <a:t> </a:t>
            </a:r>
            <a:r>
              <a:rPr dirty="0" spc="50">
                <a:latin typeface="Arial MT"/>
                <a:cs typeface="Arial MT"/>
              </a:rPr>
              <a:t>Mohammed</a:t>
            </a:r>
            <a:r>
              <a:rPr dirty="0" spc="125"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Alaiz, </a:t>
            </a:r>
            <a:r>
              <a:rPr dirty="0">
                <a:latin typeface="Arial MT"/>
                <a:cs typeface="Arial MT"/>
              </a:rPr>
              <a:t>le</a:t>
            </a:r>
            <a:r>
              <a:rPr dirty="0" spc="8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code</a:t>
            </a:r>
            <a:r>
              <a:rPr dirty="0" spc="8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dirty="0" spc="8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été</a:t>
            </a:r>
            <a:r>
              <a:rPr dirty="0" spc="9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audité</a:t>
            </a:r>
            <a:r>
              <a:rPr dirty="0" spc="8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et</a:t>
            </a:r>
            <a:r>
              <a:rPr dirty="0" spc="8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stabilisé</a:t>
            </a:r>
            <a:r>
              <a:rPr dirty="0" spc="8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par</a:t>
            </a:r>
            <a:r>
              <a:rPr dirty="0" spc="9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Azaanoun</a:t>
            </a:r>
            <a:r>
              <a:rPr dirty="0" spc="8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le</a:t>
            </a:r>
            <a:r>
              <a:rPr dirty="0" spc="8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16</a:t>
            </a:r>
            <a:r>
              <a:rPr dirty="0" spc="90">
                <a:latin typeface="Arial MT"/>
                <a:cs typeface="Arial MT"/>
              </a:rPr>
              <a:t> </a:t>
            </a:r>
            <a:r>
              <a:rPr dirty="0" spc="-20">
                <a:latin typeface="Arial MT"/>
                <a:cs typeface="Arial MT"/>
              </a:rPr>
              <a:t>Juin.</a:t>
            </a:r>
          </a:p>
          <a:p>
            <a:pPr marL="12700">
              <a:lnSpc>
                <a:spcPts val="1200"/>
              </a:lnSpc>
              <a:spcBef>
                <a:spcPts val="1045"/>
              </a:spcBef>
            </a:pPr>
            <a:r>
              <a:rPr dirty="0" spc="-70"/>
              <a:t>Complexité</a:t>
            </a:r>
            <a:r>
              <a:rPr dirty="0" spc="-30"/>
              <a:t> </a:t>
            </a:r>
            <a:r>
              <a:rPr dirty="0" spc="-80"/>
              <a:t>des</a:t>
            </a:r>
            <a:r>
              <a:rPr dirty="0" spc="-25"/>
              <a:t> </a:t>
            </a:r>
            <a:r>
              <a:rPr dirty="0" spc="-55"/>
              <a:t>paiements</a:t>
            </a:r>
            <a:r>
              <a:rPr dirty="0" spc="-30"/>
              <a:t> </a:t>
            </a:r>
            <a:r>
              <a:rPr dirty="0" spc="-55"/>
              <a:t>hybrides</a:t>
            </a:r>
            <a:r>
              <a:rPr dirty="0" spc="-25"/>
              <a:t> </a:t>
            </a:r>
            <a:r>
              <a:rPr dirty="0" spc="-50"/>
              <a:t>:</a:t>
            </a:r>
          </a:p>
          <a:p>
            <a:pPr marL="12700" marR="922019">
              <a:lnSpc>
                <a:spcPts val="1200"/>
              </a:lnSpc>
              <a:spcBef>
                <a:spcPts val="35"/>
              </a:spcBef>
            </a:pPr>
            <a:r>
              <a:rPr dirty="0" spc="-20" i="1">
                <a:latin typeface="Trebuchet MS"/>
                <a:cs typeface="Trebuchet MS"/>
              </a:rPr>
              <a:t>Solution</a:t>
            </a:r>
            <a:r>
              <a:rPr dirty="0" spc="114" i="1">
                <a:latin typeface="Trebuchet MS"/>
                <a:cs typeface="Trebuchet MS"/>
              </a:rPr>
              <a:t> </a:t>
            </a:r>
            <a:r>
              <a:rPr dirty="0" spc="-114" i="1">
                <a:latin typeface="Trebuchet MS"/>
                <a:cs typeface="Trebuchet MS"/>
              </a:rPr>
              <a:t>:</a:t>
            </a:r>
            <a:r>
              <a:rPr dirty="0" spc="114" i="1">
                <a:latin typeface="Trebuchet MS"/>
                <a:cs typeface="Trebuchet MS"/>
              </a:rPr>
              <a:t> </a:t>
            </a:r>
            <a:r>
              <a:rPr dirty="0">
                <a:latin typeface="Arial MT"/>
                <a:cs typeface="Arial MT"/>
              </a:rPr>
              <a:t>Simulation</a:t>
            </a:r>
            <a:r>
              <a:rPr dirty="0" spc="14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logique</a:t>
            </a:r>
            <a:r>
              <a:rPr dirty="0" spc="14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et</a:t>
            </a:r>
            <a:r>
              <a:rPr dirty="0" spc="14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modulaire</a:t>
            </a:r>
            <a:r>
              <a:rPr dirty="0" spc="140">
                <a:latin typeface="Arial MT"/>
                <a:cs typeface="Arial MT"/>
              </a:rPr>
              <a:t> </a:t>
            </a:r>
            <a:r>
              <a:rPr dirty="0" spc="55">
                <a:latin typeface="Arial MT"/>
                <a:cs typeface="Arial MT"/>
              </a:rPr>
              <a:t>pour</a:t>
            </a:r>
            <a:r>
              <a:rPr dirty="0" spc="14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intégrer</a:t>
            </a:r>
            <a:r>
              <a:rPr dirty="0" spc="14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les</a:t>
            </a:r>
            <a:r>
              <a:rPr dirty="0" spc="14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flux</a:t>
            </a:r>
            <a:r>
              <a:rPr dirty="0" spc="140"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PayPal</a:t>
            </a:r>
            <a:r>
              <a:rPr dirty="0" spc="140">
                <a:latin typeface="Arial MT"/>
                <a:cs typeface="Arial MT"/>
              </a:rPr>
              <a:t> </a:t>
            </a:r>
            <a:r>
              <a:rPr dirty="0" spc="-25">
                <a:latin typeface="Arial MT"/>
                <a:cs typeface="Arial MT"/>
              </a:rPr>
              <a:t>et </a:t>
            </a:r>
            <a:r>
              <a:rPr dirty="0" spc="10">
                <a:latin typeface="Arial MT"/>
                <a:cs typeface="Arial MT"/>
              </a:rPr>
              <a:t>Crypto/Stablecoins</a:t>
            </a:r>
            <a:r>
              <a:rPr dirty="0" spc="50">
                <a:latin typeface="Arial MT"/>
                <a:cs typeface="Arial MT"/>
              </a:rPr>
              <a:t> </a:t>
            </a:r>
            <a:r>
              <a:rPr dirty="0" spc="10">
                <a:latin typeface="Arial MT"/>
                <a:cs typeface="Arial MT"/>
              </a:rPr>
              <a:t>dans</a:t>
            </a:r>
            <a:r>
              <a:rPr dirty="0" spc="55">
                <a:latin typeface="Arial MT"/>
                <a:cs typeface="Arial MT"/>
              </a:rPr>
              <a:t> </a:t>
            </a:r>
            <a:r>
              <a:rPr dirty="0" spc="10">
                <a:latin typeface="Arial MT"/>
                <a:cs typeface="Arial MT"/>
              </a:rPr>
              <a:t>la</a:t>
            </a:r>
            <a:r>
              <a:rPr dirty="0" spc="55">
                <a:latin typeface="Arial MT"/>
                <a:cs typeface="Arial MT"/>
              </a:rPr>
              <a:t> </a:t>
            </a:r>
            <a:r>
              <a:rPr dirty="0" spc="10">
                <a:latin typeface="Arial MT"/>
                <a:cs typeface="Arial MT"/>
              </a:rPr>
              <a:t>base</a:t>
            </a:r>
            <a:r>
              <a:rPr dirty="0" spc="55">
                <a:latin typeface="Arial MT"/>
                <a:cs typeface="Arial MT"/>
              </a:rPr>
              <a:t> </a:t>
            </a:r>
            <a:r>
              <a:rPr dirty="0" spc="10">
                <a:latin typeface="Arial MT"/>
                <a:cs typeface="Arial MT"/>
              </a:rPr>
              <a:t>de</a:t>
            </a:r>
            <a:r>
              <a:rPr dirty="0" spc="55"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données.</a:t>
            </a:r>
          </a:p>
          <a:p>
            <a:pPr marL="12700">
              <a:lnSpc>
                <a:spcPts val="1200"/>
              </a:lnSpc>
              <a:spcBef>
                <a:spcPts val="1050"/>
              </a:spcBef>
            </a:pPr>
            <a:r>
              <a:rPr dirty="0" spc="-65"/>
              <a:t>Synchronisation</a:t>
            </a:r>
            <a:r>
              <a:rPr dirty="0" spc="-10"/>
              <a:t> </a:t>
            </a:r>
            <a:r>
              <a:rPr dirty="0" spc="-55"/>
              <a:t>de</a:t>
            </a:r>
            <a:r>
              <a:rPr dirty="0" spc="-5"/>
              <a:t> </a:t>
            </a:r>
            <a:r>
              <a:rPr dirty="0" spc="-60"/>
              <a:t>l’équipe</a:t>
            </a:r>
            <a:r>
              <a:rPr dirty="0" spc="-5"/>
              <a:t> </a:t>
            </a:r>
            <a:r>
              <a:rPr dirty="0" spc="-50"/>
              <a:t>:</a:t>
            </a:r>
          </a:p>
          <a:p>
            <a:pPr marL="12700" marR="401955">
              <a:lnSpc>
                <a:spcPts val="1200"/>
              </a:lnSpc>
              <a:spcBef>
                <a:spcPts val="35"/>
              </a:spcBef>
            </a:pPr>
            <a:r>
              <a:rPr dirty="0" spc="-20" i="1">
                <a:latin typeface="Trebuchet MS"/>
                <a:cs typeface="Trebuchet MS"/>
              </a:rPr>
              <a:t>Solution</a:t>
            </a:r>
            <a:r>
              <a:rPr dirty="0" spc="55" i="1">
                <a:latin typeface="Trebuchet MS"/>
                <a:cs typeface="Trebuchet MS"/>
              </a:rPr>
              <a:t> </a:t>
            </a:r>
            <a:r>
              <a:rPr dirty="0" spc="-114" i="1">
                <a:latin typeface="Trebuchet MS"/>
                <a:cs typeface="Trebuchet MS"/>
              </a:rPr>
              <a:t>:</a:t>
            </a:r>
            <a:r>
              <a:rPr dirty="0" spc="55" i="1">
                <a:latin typeface="Trebuchet MS"/>
                <a:cs typeface="Trebuchet MS"/>
              </a:rPr>
              <a:t> </a:t>
            </a:r>
            <a:r>
              <a:rPr dirty="0">
                <a:latin typeface="Arial MT"/>
                <a:cs typeface="Arial MT"/>
              </a:rPr>
              <a:t>Suivi</a:t>
            </a:r>
            <a:r>
              <a:rPr dirty="0" spc="80">
                <a:latin typeface="Arial MT"/>
                <a:cs typeface="Arial MT"/>
              </a:rPr>
              <a:t> </a:t>
            </a:r>
            <a:r>
              <a:rPr dirty="0" spc="45">
                <a:latin typeface="Arial MT"/>
                <a:cs typeface="Arial MT"/>
              </a:rPr>
              <a:t>rigoureux</a:t>
            </a:r>
            <a:r>
              <a:rPr dirty="0" spc="8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et</a:t>
            </a:r>
            <a:r>
              <a:rPr dirty="0" spc="8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partages</a:t>
            </a:r>
            <a:r>
              <a:rPr dirty="0" spc="8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réguliers</a:t>
            </a:r>
            <a:r>
              <a:rPr dirty="0" spc="8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des</a:t>
            </a:r>
            <a:r>
              <a:rPr dirty="0" spc="8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versions</a:t>
            </a:r>
            <a:r>
              <a:rPr dirty="0" spc="80">
                <a:latin typeface="Arial MT"/>
                <a:cs typeface="Arial MT"/>
              </a:rPr>
              <a:t> </a:t>
            </a:r>
            <a:r>
              <a:rPr dirty="0" spc="55">
                <a:latin typeface="Arial MT"/>
                <a:cs typeface="Arial MT"/>
              </a:rPr>
              <a:t>pour</a:t>
            </a:r>
            <a:r>
              <a:rPr dirty="0" spc="8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éviter</a:t>
            </a:r>
            <a:r>
              <a:rPr dirty="0" spc="8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les</a:t>
            </a:r>
            <a:r>
              <a:rPr dirty="0" spc="80"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conflits </a:t>
            </a:r>
            <a:r>
              <a:rPr dirty="0" spc="30">
                <a:latin typeface="Arial MT"/>
                <a:cs typeface="Arial MT"/>
              </a:rPr>
              <a:t>d’intégration</a:t>
            </a:r>
            <a:r>
              <a:rPr dirty="0" spc="20">
                <a:latin typeface="Arial MT"/>
                <a:cs typeface="Arial MT"/>
              </a:rPr>
              <a:t> </a:t>
            </a:r>
            <a:r>
              <a:rPr dirty="0" spc="30">
                <a:latin typeface="Arial MT"/>
                <a:cs typeface="Arial MT"/>
              </a:rPr>
              <a:t>entre</a:t>
            </a:r>
            <a:r>
              <a:rPr dirty="0" spc="20">
                <a:latin typeface="Arial MT"/>
                <a:cs typeface="Arial MT"/>
              </a:rPr>
              <a:t> </a:t>
            </a:r>
            <a:r>
              <a:rPr dirty="0" spc="30">
                <a:latin typeface="Arial MT"/>
                <a:cs typeface="Arial MT"/>
              </a:rPr>
              <a:t>le</a:t>
            </a:r>
            <a:r>
              <a:rPr dirty="0" spc="20">
                <a:latin typeface="Arial MT"/>
                <a:cs typeface="Arial MT"/>
              </a:rPr>
              <a:t> </a:t>
            </a:r>
            <a:r>
              <a:rPr dirty="0" spc="30">
                <a:latin typeface="Arial MT"/>
                <a:cs typeface="Arial MT"/>
              </a:rPr>
              <a:t>Frontend</a:t>
            </a:r>
            <a:r>
              <a:rPr dirty="0" spc="25">
                <a:latin typeface="Arial MT"/>
                <a:cs typeface="Arial MT"/>
              </a:rPr>
              <a:t> </a:t>
            </a:r>
            <a:r>
              <a:rPr dirty="0" spc="30">
                <a:latin typeface="Arial MT"/>
                <a:cs typeface="Arial MT"/>
              </a:rPr>
              <a:t>et</a:t>
            </a:r>
            <a:r>
              <a:rPr dirty="0" spc="20">
                <a:latin typeface="Arial MT"/>
                <a:cs typeface="Arial MT"/>
              </a:rPr>
              <a:t> </a:t>
            </a:r>
            <a:r>
              <a:rPr dirty="0" spc="30">
                <a:latin typeface="Arial MT"/>
                <a:cs typeface="Arial MT"/>
              </a:rPr>
              <a:t>le</a:t>
            </a:r>
            <a:r>
              <a:rPr dirty="0" spc="20"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Backend.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424" y="1450301"/>
            <a:ext cx="71882" cy="718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424" y="2044979"/>
            <a:ext cx="71882" cy="7188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9" name="object 9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70924" y="3125761"/>
            <a:ext cx="418465" cy="111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GreenMarket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10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16865"/>
          </a:xfrm>
          <a:custGeom>
            <a:avLst/>
            <a:gdLst/>
            <a:ahLst/>
            <a:cxnLst/>
            <a:rect l="l" t="t" r="r" b="b"/>
            <a:pathLst>
              <a:path w="5760085" h="316865">
                <a:moveTo>
                  <a:pt x="5759996" y="0"/>
                </a:moveTo>
                <a:lnTo>
                  <a:pt x="0" y="0"/>
                </a:lnTo>
                <a:lnTo>
                  <a:pt x="0" y="316763"/>
                </a:lnTo>
                <a:lnTo>
                  <a:pt x="5759996" y="316763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20"/>
              <a:t>Conclusion</a:t>
            </a:r>
            <a:r>
              <a:rPr dirty="0" spc="120"/>
              <a:t> </a:t>
            </a:r>
            <a:r>
              <a:rPr dirty="0" spc="80"/>
              <a:t>et</a:t>
            </a:r>
            <a:r>
              <a:rPr dirty="0" spc="125"/>
              <a:t> </a:t>
            </a:r>
            <a:r>
              <a:rPr dirty="0" spc="-10"/>
              <a:t>Perspectives</a:t>
            </a:r>
          </a:p>
        </p:txBody>
      </p:sp>
      <p:sp>
        <p:nvSpPr>
          <p:cNvPr id="4" name="object 4"/>
          <p:cNvSpPr/>
          <p:nvPr/>
        </p:nvSpPr>
        <p:spPr>
          <a:xfrm>
            <a:off x="75729" y="816063"/>
            <a:ext cx="5608955" cy="198120"/>
          </a:xfrm>
          <a:custGeom>
            <a:avLst/>
            <a:gdLst/>
            <a:ahLst/>
            <a:cxnLst/>
            <a:rect l="l" t="t" r="r" b="b"/>
            <a:pathLst>
              <a:path w="5608955" h="198119">
                <a:moveTo>
                  <a:pt x="555782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7777"/>
                </a:lnTo>
                <a:lnTo>
                  <a:pt x="5608620" y="197777"/>
                </a:lnTo>
                <a:lnTo>
                  <a:pt x="5608620" y="50800"/>
                </a:lnTo>
                <a:lnTo>
                  <a:pt x="5604612" y="31075"/>
                </a:lnTo>
                <a:lnTo>
                  <a:pt x="5593698" y="14922"/>
                </a:lnTo>
                <a:lnTo>
                  <a:pt x="5577545" y="4008"/>
                </a:lnTo>
                <a:lnTo>
                  <a:pt x="5557820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6530" y="807249"/>
            <a:ext cx="356235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Bilan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5729" y="872997"/>
            <a:ext cx="5659755" cy="572135"/>
            <a:chOff x="75729" y="872997"/>
            <a:chExt cx="5659755" cy="5721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1001179"/>
              <a:ext cx="560862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6530" y="872997"/>
              <a:ext cx="5608955" cy="572135"/>
            </a:xfrm>
            <a:custGeom>
              <a:avLst/>
              <a:gdLst/>
              <a:ahLst/>
              <a:cxnLst/>
              <a:rect l="l" t="t" r="r" b="b"/>
              <a:pathLst>
                <a:path w="5608955" h="572135">
                  <a:moveTo>
                    <a:pt x="5608620" y="0"/>
                  </a:moveTo>
                  <a:lnTo>
                    <a:pt x="0" y="0"/>
                  </a:lnTo>
                  <a:lnTo>
                    <a:pt x="0" y="572123"/>
                  </a:lnTo>
                  <a:lnTo>
                    <a:pt x="5608620" y="57212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5729" y="1045469"/>
              <a:ext cx="5608955" cy="349250"/>
            </a:xfrm>
            <a:custGeom>
              <a:avLst/>
              <a:gdLst/>
              <a:ahLst/>
              <a:cxnLst/>
              <a:rect l="l" t="t" r="r" b="b"/>
              <a:pathLst>
                <a:path w="5608955" h="349250">
                  <a:moveTo>
                    <a:pt x="5608620" y="0"/>
                  </a:moveTo>
                  <a:lnTo>
                    <a:pt x="0" y="0"/>
                  </a:lnTo>
                  <a:lnTo>
                    <a:pt x="0" y="298050"/>
                  </a:lnTo>
                  <a:lnTo>
                    <a:pt x="4008" y="317775"/>
                  </a:lnTo>
                  <a:lnTo>
                    <a:pt x="14922" y="333928"/>
                  </a:lnTo>
                  <a:lnTo>
                    <a:pt x="31075" y="344842"/>
                  </a:lnTo>
                  <a:lnTo>
                    <a:pt x="50800" y="348850"/>
                  </a:lnTo>
                  <a:lnTo>
                    <a:pt x="5557820" y="348850"/>
                  </a:lnTo>
                  <a:lnTo>
                    <a:pt x="5577545" y="344842"/>
                  </a:lnTo>
                  <a:lnTo>
                    <a:pt x="5593698" y="333928"/>
                  </a:lnTo>
                  <a:lnTo>
                    <a:pt x="5604612" y="317775"/>
                  </a:lnTo>
                  <a:lnTo>
                    <a:pt x="5608620" y="29805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26530" y="872997"/>
            <a:ext cx="5608955" cy="57213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1000">
              <a:latin typeface="Times New Roman"/>
              <a:cs typeface="Times New Roman"/>
            </a:endParaRPr>
          </a:p>
          <a:p>
            <a:pPr marR="137160">
              <a:lnSpc>
                <a:spcPct val="100000"/>
              </a:lnSpc>
            </a:pPr>
            <a:r>
              <a:rPr dirty="0" sz="1000" spc="20">
                <a:latin typeface="Arial MT"/>
                <a:cs typeface="Arial MT"/>
              </a:rPr>
              <a:t>GreenMarket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est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une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solution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e-commerce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fonctionnelle,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mettant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en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valeur</a:t>
            </a:r>
            <a:r>
              <a:rPr dirty="0" sz="1000" spc="50">
                <a:latin typeface="Arial MT"/>
                <a:cs typeface="Arial MT"/>
              </a:rPr>
              <a:t> notre </a:t>
            </a:r>
            <a:r>
              <a:rPr dirty="0" sz="1000" spc="20">
                <a:latin typeface="Arial MT"/>
                <a:cs typeface="Arial MT"/>
              </a:rPr>
              <a:t>capacité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à </a:t>
            </a:r>
            <a:r>
              <a:rPr dirty="0" sz="1000">
                <a:latin typeface="Arial MT"/>
                <a:cs typeface="Arial MT"/>
              </a:rPr>
              <a:t>concevoir</a:t>
            </a:r>
            <a:r>
              <a:rPr dirty="0" sz="1000" spc="1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et</a:t>
            </a:r>
            <a:r>
              <a:rPr dirty="0" sz="1000" spc="1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développer</a:t>
            </a:r>
            <a:r>
              <a:rPr dirty="0" sz="1000" spc="1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une</a:t>
            </a:r>
            <a:r>
              <a:rPr dirty="0" sz="1000" spc="1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plateforme</a:t>
            </a:r>
            <a:r>
              <a:rPr dirty="0" sz="1000" spc="1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complète</a:t>
            </a:r>
            <a:r>
              <a:rPr dirty="0" sz="1000" spc="1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(du</a:t>
            </a:r>
            <a:r>
              <a:rPr dirty="0" sz="1000" spc="1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MCD</a:t>
            </a:r>
            <a:r>
              <a:rPr dirty="0" sz="1000" spc="1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à</a:t>
            </a:r>
            <a:r>
              <a:rPr dirty="0" sz="1000" spc="1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l’intégration</a:t>
            </a:r>
            <a:r>
              <a:rPr dirty="0" sz="1000" spc="16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PHP)</a:t>
            </a:r>
            <a:r>
              <a:rPr dirty="0" sz="1000" spc="1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en</a:t>
            </a:r>
            <a:r>
              <a:rPr dirty="0" sz="1000" spc="16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équipe.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729" y="1672767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2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688"/>
                </a:lnTo>
                <a:lnTo>
                  <a:pt x="5608620" y="198688"/>
                </a:lnTo>
                <a:lnTo>
                  <a:pt x="5608620" y="50800"/>
                </a:lnTo>
                <a:lnTo>
                  <a:pt x="5604612" y="31075"/>
                </a:lnTo>
                <a:lnTo>
                  <a:pt x="5593698" y="14922"/>
                </a:lnTo>
                <a:lnTo>
                  <a:pt x="5577545" y="4008"/>
                </a:lnTo>
                <a:lnTo>
                  <a:pt x="5557820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6530" y="1664867"/>
            <a:ext cx="1544320" cy="2070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200" spc="20">
                <a:solidFill>
                  <a:srgbClr val="FFFFFF"/>
                </a:solidFill>
                <a:latin typeface="Arial MT"/>
                <a:cs typeface="Arial MT"/>
              </a:rPr>
              <a:t>Améliorations</a:t>
            </a:r>
            <a:r>
              <a:rPr dirty="0" sz="1200" spc="2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40">
                <a:solidFill>
                  <a:srgbClr val="FFFFFF"/>
                </a:solidFill>
                <a:latin typeface="Arial MT"/>
                <a:cs typeface="Arial MT"/>
              </a:rPr>
              <a:t>futures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729" y="1729689"/>
            <a:ext cx="5659755" cy="800100"/>
            <a:chOff x="75729" y="1729689"/>
            <a:chExt cx="5659755" cy="8001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1858797"/>
              <a:ext cx="560862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6530" y="1729689"/>
              <a:ext cx="5608955" cy="800100"/>
            </a:xfrm>
            <a:custGeom>
              <a:avLst/>
              <a:gdLst/>
              <a:ahLst/>
              <a:cxnLst/>
              <a:rect l="l" t="t" r="r" b="b"/>
              <a:pathLst>
                <a:path w="5608955" h="800100">
                  <a:moveTo>
                    <a:pt x="5608620" y="0"/>
                  </a:moveTo>
                  <a:lnTo>
                    <a:pt x="0" y="0"/>
                  </a:lnTo>
                  <a:lnTo>
                    <a:pt x="0" y="800024"/>
                  </a:lnTo>
                  <a:lnTo>
                    <a:pt x="5608620" y="800024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5729" y="1903072"/>
              <a:ext cx="5608955" cy="575945"/>
            </a:xfrm>
            <a:custGeom>
              <a:avLst/>
              <a:gdLst/>
              <a:ahLst/>
              <a:cxnLst/>
              <a:rect l="l" t="t" r="r" b="b"/>
              <a:pathLst>
                <a:path w="5608955" h="575944">
                  <a:moveTo>
                    <a:pt x="5608620" y="0"/>
                  </a:moveTo>
                  <a:lnTo>
                    <a:pt x="0" y="0"/>
                  </a:lnTo>
                  <a:lnTo>
                    <a:pt x="0" y="525040"/>
                  </a:lnTo>
                  <a:lnTo>
                    <a:pt x="4008" y="544765"/>
                  </a:lnTo>
                  <a:lnTo>
                    <a:pt x="14922" y="560918"/>
                  </a:lnTo>
                  <a:lnTo>
                    <a:pt x="31075" y="571832"/>
                  </a:lnTo>
                  <a:lnTo>
                    <a:pt x="50800" y="575840"/>
                  </a:lnTo>
                  <a:lnTo>
                    <a:pt x="5557820" y="575840"/>
                  </a:lnTo>
                  <a:lnTo>
                    <a:pt x="5577545" y="571832"/>
                  </a:lnTo>
                  <a:lnTo>
                    <a:pt x="5593698" y="560918"/>
                  </a:lnTo>
                  <a:lnTo>
                    <a:pt x="5604612" y="544765"/>
                  </a:lnTo>
                  <a:lnTo>
                    <a:pt x="5608620" y="525040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424" y="1950135"/>
              <a:ext cx="71882" cy="7188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424" y="2139924"/>
              <a:ext cx="71882" cy="7188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424" y="2329713"/>
              <a:ext cx="71882" cy="7188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26530" y="1729689"/>
            <a:ext cx="5608955" cy="8001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1000">
              <a:latin typeface="Times New Roman"/>
              <a:cs typeface="Times New Roman"/>
            </a:endParaRPr>
          </a:p>
          <a:p>
            <a:pPr marL="252729">
              <a:lnSpc>
                <a:spcPct val="100000"/>
              </a:lnSpc>
            </a:pPr>
            <a:r>
              <a:rPr dirty="0" sz="1000" spc="50">
                <a:latin typeface="Arial MT"/>
                <a:cs typeface="Arial MT"/>
              </a:rPr>
              <a:t>Migration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vers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une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architecture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MVC</a:t>
            </a:r>
            <a:r>
              <a:rPr dirty="0" sz="1000" spc="7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(ex: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Laravel).</a:t>
            </a: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latin typeface="Arial MT"/>
                <a:cs typeface="Arial MT"/>
              </a:rPr>
              <a:t>Création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d’une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API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pour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développer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une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application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mobile.</a:t>
            </a: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295"/>
              </a:spcBef>
            </a:pPr>
            <a:r>
              <a:rPr dirty="0" sz="1000" spc="50">
                <a:latin typeface="Arial MT"/>
                <a:cs typeface="Arial MT"/>
              </a:rPr>
              <a:t>Intégration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d’API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transporteurs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locaux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(Amana)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pour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le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suivi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livraison.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22" name="object 22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670924" y="3125761"/>
            <a:ext cx="418465" cy="111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GreenMarket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10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16865"/>
          </a:xfrm>
          <a:custGeom>
            <a:avLst/>
            <a:gdLst/>
            <a:ahLst/>
            <a:cxnLst/>
            <a:rect l="l" t="t" r="r" b="b"/>
            <a:pathLst>
              <a:path w="5760085" h="316865">
                <a:moveTo>
                  <a:pt x="5759996" y="0"/>
                </a:moveTo>
                <a:lnTo>
                  <a:pt x="0" y="0"/>
                </a:lnTo>
                <a:lnTo>
                  <a:pt x="0" y="316763"/>
                </a:lnTo>
                <a:lnTo>
                  <a:pt x="5759996" y="316763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</a:t>
            </a:r>
            <a:r>
              <a:rPr dirty="0" spc="30"/>
              <a:t> </a:t>
            </a:r>
            <a:r>
              <a:rPr dirty="0" spc="65"/>
              <a:t>de</a:t>
            </a:r>
            <a:r>
              <a:rPr dirty="0" spc="30"/>
              <a:t> </a:t>
            </a:r>
            <a:r>
              <a:rPr dirty="0"/>
              <a:t>la</a:t>
            </a:r>
            <a:r>
              <a:rPr dirty="0" spc="30"/>
              <a:t> </a:t>
            </a:r>
            <a:r>
              <a:rPr dirty="0" spc="65"/>
              <a:t>présentation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5352" y="995857"/>
            <a:ext cx="4029710" cy="8591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2450" spc="-130">
                <a:latin typeface="Arial Black"/>
                <a:cs typeface="Arial Black"/>
              </a:rPr>
              <a:t>Merci</a:t>
            </a:r>
            <a:r>
              <a:rPr dirty="0" sz="2450" spc="-155">
                <a:latin typeface="Arial Black"/>
                <a:cs typeface="Arial Black"/>
              </a:rPr>
              <a:t> </a:t>
            </a:r>
            <a:r>
              <a:rPr dirty="0" sz="2450" spc="-140">
                <a:latin typeface="Arial Black"/>
                <a:cs typeface="Arial Black"/>
              </a:rPr>
              <a:t>de</a:t>
            </a:r>
            <a:r>
              <a:rPr dirty="0" sz="2450" spc="-150">
                <a:latin typeface="Arial Black"/>
                <a:cs typeface="Arial Black"/>
              </a:rPr>
              <a:t> </a:t>
            </a:r>
            <a:r>
              <a:rPr dirty="0" sz="2450" spc="-90">
                <a:latin typeface="Arial Black"/>
                <a:cs typeface="Arial Black"/>
              </a:rPr>
              <a:t>votre</a:t>
            </a:r>
            <a:r>
              <a:rPr dirty="0" sz="2450" spc="-150">
                <a:latin typeface="Arial Black"/>
                <a:cs typeface="Arial Black"/>
              </a:rPr>
              <a:t> </a:t>
            </a:r>
            <a:r>
              <a:rPr dirty="0" sz="2450" spc="-75">
                <a:latin typeface="Arial Black"/>
                <a:cs typeface="Arial Black"/>
              </a:rPr>
              <a:t>attention</a:t>
            </a:r>
            <a:r>
              <a:rPr dirty="0" sz="2450" spc="-150">
                <a:latin typeface="Arial Black"/>
                <a:cs typeface="Arial Black"/>
              </a:rPr>
              <a:t> </a:t>
            </a:r>
            <a:r>
              <a:rPr dirty="0" sz="2450" spc="-50">
                <a:latin typeface="Arial Black"/>
                <a:cs typeface="Arial Black"/>
              </a:rPr>
              <a:t>!</a:t>
            </a:r>
            <a:endParaRPr sz="2450">
              <a:latin typeface="Arial Black"/>
              <a:cs typeface="Arial Black"/>
            </a:endParaRPr>
          </a:p>
          <a:p>
            <a:pPr algn="ctr">
              <a:lnSpc>
                <a:spcPts val="1200"/>
              </a:lnSpc>
              <a:spcBef>
                <a:spcPts val="1200"/>
              </a:spcBef>
            </a:pPr>
            <a:r>
              <a:rPr dirty="0" sz="1000" spc="-60">
                <a:latin typeface="Arial Black"/>
                <a:cs typeface="Arial Black"/>
              </a:rPr>
              <a:t>Projet</a:t>
            </a:r>
            <a:r>
              <a:rPr dirty="0" sz="1000" spc="-35">
                <a:latin typeface="Arial Black"/>
                <a:cs typeface="Arial Black"/>
              </a:rPr>
              <a:t> </a:t>
            </a:r>
            <a:r>
              <a:rPr dirty="0" sz="1000" spc="-10">
                <a:latin typeface="Arial Black"/>
                <a:cs typeface="Arial Black"/>
              </a:rPr>
              <a:t>GreenMarket</a:t>
            </a:r>
            <a:endParaRPr sz="1000">
              <a:latin typeface="Arial Black"/>
              <a:cs typeface="Arial Black"/>
            </a:endParaRPr>
          </a:p>
          <a:p>
            <a:pPr algn="ctr">
              <a:lnSpc>
                <a:spcPts val="1200"/>
              </a:lnSpc>
            </a:pPr>
            <a:r>
              <a:rPr dirty="0" sz="1000" i="1">
                <a:latin typeface="Trebuchet MS"/>
                <a:cs typeface="Trebuchet MS"/>
              </a:rPr>
              <a:t>La</a:t>
            </a:r>
            <a:r>
              <a:rPr dirty="0" sz="1000" spc="-40" i="1">
                <a:latin typeface="Trebuchet MS"/>
                <a:cs typeface="Trebuchet MS"/>
              </a:rPr>
              <a:t> </a:t>
            </a:r>
            <a:r>
              <a:rPr dirty="0" sz="1000" spc="-20" i="1">
                <a:latin typeface="Trebuchet MS"/>
                <a:cs typeface="Trebuchet MS"/>
              </a:rPr>
              <a:t>nature</a:t>
            </a:r>
            <a:r>
              <a:rPr dirty="0" sz="1000" spc="-40" i="1">
                <a:latin typeface="Trebuchet MS"/>
                <a:cs typeface="Trebuchet MS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au</a:t>
            </a:r>
            <a:r>
              <a:rPr dirty="0" sz="1000" spc="-35" i="1">
                <a:latin typeface="Trebuchet MS"/>
                <a:cs typeface="Trebuchet MS"/>
              </a:rPr>
              <a:t> </a:t>
            </a:r>
            <a:r>
              <a:rPr dirty="0" sz="1000" spc="-10" i="1">
                <a:latin typeface="Trebuchet MS"/>
                <a:cs typeface="Trebuchet MS"/>
              </a:rPr>
              <a:t>cœur</a:t>
            </a:r>
            <a:r>
              <a:rPr dirty="0" sz="1000" spc="-40" i="1">
                <a:latin typeface="Trebuchet MS"/>
                <a:cs typeface="Trebuchet MS"/>
              </a:rPr>
              <a:t> </a:t>
            </a:r>
            <a:r>
              <a:rPr dirty="0" sz="1000" spc="-10" i="1">
                <a:latin typeface="Trebuchet MS"/>
                <a:cs typeface="Trebuchet MS"/>
              </a:rPr>
              <a:t>de</a:t>
            </a:r>
            <a:r>
              <a:rPr dirty="0" sz="1000" spc="-35" i="1">
                <a:latin typeface="Trebuchet MS"/>
                <a:cs typeface="Trebuchet MS"/>
              </a:rPr>
              <a:t> votre</a:t>
            </a:r>
            <a:r>
              <a:rPr dirty="0" sz="1000" spc="-40" i="1">
                <a:latin typeface="Trebuchet MS"/>
                <a:cs typeface="Trebuchet MS"/>
              </a:rPr>
              <a:t> </a:t>
            </a:r>
            <a:r>
              <a:rPr dirty="0" sz="1000" spc="-10" i="1">
                <a:latin typeface="Trebuchet MS"/>
                <a:cs typeface="Trebuchet MS"/>
              </a:rPr>
              <a:t>table.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5458" y="2082452"/>
            <a:ext cx="3049270" cy="3016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 indent="278765">
              <a:lnSpc>
                <a:spcPct val="101499"/>
              </a:lnSpc>
              <a:spcBef>
                <a:spcPts val="80"/>
              </a:spcBef>
            </a:pPr>
            <a:r>
              <a:rPr dirty="0" sz="900">
                <a:latin typeface="Arial MT"/>
                <a:cs typeface="Arial MT"/>
              </a:rPr>
              <a:t>Développé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l’équipe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60">
                <a:latin typeface="Arial MT"/>
                <a:cs typeface="Arial MT"/>
              </a:rPr>
              <a:t>DEV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202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-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35">
                <a:latin typeface="Arial MT"/>
                <a:cs typeface="Arial MT"/>
              </a:rPr>
              <a:t>ISMO-</a:t>
            </a:r>
            <a:r>
              <a:rPr dirty="0" sz="900" spc="-10">
                <a:latin typeface="Arial MT"/>
                <a:cs typeface="Arial MT"/>
              </a:rPr>
              <a:t>OFPPT</a:t>
            </a:r>
            <a:r>
              <a:rPr dirty="0" sz="900" spc="50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Code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source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: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Cambria"/>
                <a:cs typeface="Cambria"/>
              </a:rPr>
              <a:t>github.com/contactme-</a:t>
            </a:r>
            <a:r>
              <a:rPr dirty="0" sz="900" spc="-10">
                <a:latin typeface="Cambria"/>
                <a:cs typeface="Cambria"/>
              </a:rPr>
              <a:t>coder/GREENMARKET</a:t>
            </a:r>
            <a:endParaRPr sz="9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29800"/>
            <a:ext cx="5760085" cy="110489"/>
            <a:chOff x="0" y="3129800"/>
            <a:chExt cx="5760085" cy="110489"/>
          </a:xfrm>
        </p:grpSpPr>
        <p:sp>
          <p:nvSpPr>
            <p:cNvPr id="7" name="object 7"/>
            <p:cNvSpPr/>
            <p:nvPr/>
          </p:nvSpPr>
          <p:spPr>
            <a:xfrm>
              <a:off x="0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919973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39946" y="3129800"/>
              <a:ext cx="1920239" cy="110489"/>
            </a:xfrm>
            <a:custGeom>
              <a:avLst/>
              <a:gdLst/>
              <a:ahLst/>
              <a:cxnLst/>
              <a:rect l="l" t="t" r="r" b="b"/>
              <a:pathLst>
                <a:path w="1920239" h="110489">
                  <a:moveTo>
                    <a:pt x="1919973" y="0"/>
                  </a:moveTo>
                  <a:lnTo>
                    <a:pt x="0" y="0"/>
                  </a:lnTo>
                  <a:lnTo>
                    <a:pt x="0" y="110197"/>
                  </a:lnTo>
                  <a:lnTo>
                    <a:pt x="1919973" y="110197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Ismail,</a:t>
            </a:r>
            <a:r>
              <a:rPr dirty="0" spc="45"/>
              <a:t> </a:t>
            </a:r>
            <a:r>
              <a:rPr dirty="0"/>
              <a:t>Chtoun,</a:t>
            </a:r>
            <a:r>
              <a:rPr dirty="0" spc="50"/>
              <a:t> </a:t>
            </a:r>
            <a:r>
              <a:rPr dirty="0"/>
              <a:t>Lamiae,</a:t>
            </a:r>
            <a:r>
              <a:rPr dirty="0" spc="50"/>
              <a:t> </a:t>
            </a:r>
            <a:r>
              <a:rPr dirty="0"/>
              <a:t>Roumaissae,</a:t>
            </a:r>
            <a:r>
              <a:rPr dirty="0" spc="50"/>
              <a:t> </a:t>
            </a:r>
            <a:r>
              <a:rPr dirty="0"/>
              <a:t>Alaiz</a:t>
            </a:r>
            <a:r>
              <a:rPr dirty="0" spc="229"/>
              <a:t> </a:t>
            </a:r>
            <a:r>
              <a:rPr dirty="0" spc="-20"/>
              <a:t>(ISMO-</a:t>
            </a:r>
            <a:r>
              <a:rPr dirty="0" spc="-10"/>
              <a:t>OFPPT)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670924" y="3125761"/>
            <a:ext cx="418465" cy="111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GreenMarket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Juin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dirty="0"/>
              <a:t>10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 Azaanoun Ismail, Chtoun Ismail, Lamiae El Ftouh, Roumaissae Akhrif, Alaiz Mohammed </dc:creator>
  <dc:title>GreenMarket - Plateforme de vente de produits du terroir marocain - Projet de développement web - Filière DEV 202</dc:title>
  <dcterms:created xsi:type="dcterms:W3CDTF">2026-06-27T23:13:53Z</dcterms:created>
  <dcterms:modified xsi:type="dcterms:W3CDTF">2026-06-27T23:13:53Z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2026-06-27T00:00:00Z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2026-06-27T00:00:00Z</vt:filetime>
  </property>
  <property fmtid="{D5CDD505-2E9C-101B-9397-08002B2CF9AE}" pid="6" name="PTEX.FullBanner">
    <vt:lpwstr>This is LuaHBTeX, Version 1.22.0 (TeX Live 2025)</vt:lpwstr>
  </property>
  <property fmtid="{D5CDD505-2E9C-101B-9397-08002B2CF9AE}" pid="7" name="Producer">
    <vt:lpwstr>LuaTeX-1.22.0</vt:lpwstr>
  </property>
</Properties>
</file>