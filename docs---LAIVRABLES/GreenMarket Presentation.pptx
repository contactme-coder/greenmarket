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Inter Medium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  <p:embeddedFont>
      <p:font typeface="Playfair Display" panose="020F0502020204030204" pitchFamily="2" charset="0"/>
      <p:regular r:id="rId28"/>
      <p:bold r:id="rId29"/>
      <p:italic r:id="rId30"/>
      <p:boldItalic r:id="rId31"/>
    </p:embeddedFont>
    <p:embeddedFont>
      <p:font typeface="Playfair Display SemiBold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77D5C5-C4D8-4A9E-88B6-92962F1621F2}">
  <a:tblStyle styleId="{2F77D5C5-C4D8-4A9E-88B6-92962F1621F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45568" y="4558754"/>
            <a:ext cx="690086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5C6B3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GreenMarket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381625" y="5682704"/>
            <a:ext cx="1428750" cy="38100"/>
          </a:xfrm>
          <a:prstGeom prst="rect">
            <a:avLst/>
          </a:prstGeom>
          <a:solidFill>
            <a:srgbClr val="5C6B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809875" y="6006554"/>
            <a:ext cx="65722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Plateforme de vente de produits du terroir marocain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9500" y="873816"/>
            <a:ext cx="5381624" cy="2567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050" y="885813"/>
            <a:ext cx="584835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795587" y="2746027"/>
            <a:ext cx="660082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5C6B3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 au Projet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02675" y="3746150"/>
            <a:ext cx="11507700" cy="3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Promouvoir l'authenticité et soutenir l'économie locale</a:t>
            </a:r>
            <a:br>
              <a:rPr lang="en-US" sz="18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US" sz="18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US" sz="18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US" sz="18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US" sz="18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Réalisation: </a:t>
            </a:r>
            <a:r>
              <a:rPr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Lamiae El Fetouh- Roumaissae Akhrif - Ismail Chtoun - Ismail Azaanoun - Mohammed Alaiz</a:t>
            </a:r>
            <a:br>
              <a:rPr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Encadrement:</a:t>
            </a:r>
            <a:r>
              <a:rPr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Mme.Joairia Lafhal</a:t>
            </a:r>
            <a:br>
              <a:rPr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DEV102/ISMO-MARTIL/OFPPT - 2025/2026</a:t>
            </a:r>
            <a:endParaRPr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3550"/>
            <a:ext cx="5238750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33550"/>
            <a:ext cx="52387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Contexte et Objectifs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212407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La Problématique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261937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Actuellement, les producteurs locaux font face à une </a:t>
            </a: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faible visibilité numérique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. De leur côté, les consommateurs rencontrent des difficultés croissantes pour identifier, sourcer et acquérir des produits du terroir authentiques et garantis.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72275" y="212407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Notre Objectif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772275" y="261937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Créer une plateforme numérique dédiée aux </a:t>
            </a: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circuits courts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. Cette solution écoresponsable favorise la vente directe, offre une gestion de boutiques pour les producteurs, et intègre un système d'avis et de commandes fiables.</a:t>
            </a:r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09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447675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L'Équipe du Projet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16097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Une synergie de compétences au service du développement (Formation DEV 202 - M201) :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57250" y="24098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Azaanoun Ismail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: Base de données, PHP, intégration globale.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57250" y="32099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Chtoun Ismail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: Architecture et optimisation de la Base de données.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57250" y="40100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Lamiae El Ftouh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: Maquettage UI/UX (Figma) et intégration HTML/CSS.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57250" y="48101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Roumaissae Akhrif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: Design d'interface (Figma) et structure HTML/CSS.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57250" y="56102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Alaiz Mohammed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: Supervision, coordination technique, HTML/CSS.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9850" y="1647825"/>
            <a:ext cx="51625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23526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31527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39528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47529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55530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3550"/>
            <a:ext cx="3492549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733550"/>
            <a:ext cx="3492549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733550"/>
            <a:ext cx="3492549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Fonctionnalités Principales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89075" y="21717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612612" y="3267075"/>
            <a:ext cx="141017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Commerce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57250" y="3762375"/>
            <a:ext cx="29210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Catalogue avec filtres avancés, gestion de panier optimisée par cookies, et systèmes de paiement multiples (Carte, PayPal, Crypto).</a:t>
            </a:r>
            <a:endParaRPr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67375" y="21717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300900" y="3267075"/>
            <a:ext cx="15901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Engagement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635549" y="3762375"/>
            <a:ext cx="29210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Authentification sécurisée (CAPTCHA), système d'avis modéré pour la confiance, et gamification avec points de fidélité et badges.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45674" y="21717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9379237" y="3267075"/>
            <a:ext cx="99012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Gestion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413849" y="3762375"/>
            <a:ext cx="29210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Tableaux de bord personnalisés pour chaque rôle (Client, Producteur, Admin) et génération automatisée de factures PDF.</a:t>
            </a:r>
            <a:endParaRPr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03387" y="24098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05500" y="24098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83799" y="240982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571500"/>
            <a:ext cx="550068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Architecture Technique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1323975"/>
            <a:ext cx="523875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2105025"/>
            <a:ext cx="550068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Technologies Employées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26003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Backend &amp; Base de Données 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Architecture solide en PHP natif avec gestion sécurisée des sessions. Les données sont gérées sous MySQL via l'interface PDO.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37052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Frontend &amp; Design 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Interface responsive développée en HTML5, CSS3, et JavaScript vanilla, intégrant une identité visuelle forte (motif zellige).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48101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Bibliothèques &amp; Outils 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Utilisation de Chart.js pour les statistiques (dashboards), FPDF pour la génération de factures, et GitHub pour le versioning.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65969"/>
            <a:ext cx="11049000" cy="48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403919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Planification et Exécution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1156394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2" name="Google Shape;172;p19"/>
          <p:cNvGraphicFramePr/>
          <p:nvPr/>
        </p:nvGraphicFramePr>
        <p:xfrm>
          <a:off x="571500" y="1565969"/>
          <a:ext cx="11049000" cy="4888100"/>
        </p:xfrm>
        <a:graphic>
          <a:graphicData uri="http://schemas.openxmlformats.org/drawingml/2006/table">
            <a:tbl>
              <a:tblPr firstRow="1" bandRow="1">
                <a:noFill/>
                <a:tableStyleId>{2F77D5C5-C4D8-4A9E-88B6-92962F1621F2}</a:tableStyleId>
              </a:tblPr>
              <a:tblGrid>
                <a:gridCol w="618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Playfair Display SemiBold"/>
                          <a:ea typeface="Playfair Display SemiBold"/>
                          <a:cs typeface="Playfair Display SemiBold"/>
                          <a:sym typeface="Playfair Display SemiBold"/>
                        </a:rPr>
                        <a:t>Phase du Projet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C6B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Playfair Display SemiBold"/>
                          <a:ea typeface="Playfair Display SemiBold"/>
                          <a:cs typeface="Playfair Display SemiBold"/>
                          <a:sym typeface="Playfair Display SemiBold"/>
                        </a:rPr>
                        <a:t>Période Ciblée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C6B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Playfair Display SemiBold"/>
                          <a:ea typeface="Playfair Display SemiBold"/>
                          <a:cs typeface="Playfair Display SemiBold"/>
                          <a:sym typeface="Playfair Display SemiBold"/>
                        </a:rPr>
                        <a:t>Statut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C6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Conception (MCD/MLD, Maquettes Figma)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 avril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Achevé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Architecture Base de Données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EF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EF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Achevé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Développement Frontend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 mai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Achevé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Développement Backend (Authentification)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EF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 mai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EF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Achevé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Intégration des Fonctionnalités de Gestion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 juin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Achevé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Module de Gamification &amp; Tests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EF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 juin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EF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Achevé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3" name="Google Shape;173;p19"/>
          <p:cNvSpPr/>
          <p:nvPr/>
        </p:nvSpPr>
        <p:spPr>
          <a:xfrm>
            <a:off x="571500" y="2277367"/>
            <a:ext cx="6182171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6753671" y="2277367"/>
            <a:ext cx="2814786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9568457" y="2277367"/>
            <a:ext cx="2052042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2972692"/>
            <a:ext cx="6182171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753671" y="2972692"/>
            <a:ext cx="2814786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9568457" y="2972692"/>
            <a:ext cx="2052042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71500" y="3668017"/>
            <a:ext cx="6182171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6753671" y="3668017"/>
            <a:ext cx="2814786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9568457" y="3668017"/>
            <a:ext cx="2052042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71500" y="4363342"/>
            <a:ext cx="6182171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753671" y="4363342"/>
            <a:ext cx="2814786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9568457" y="4363342"/>
            <a:ext cx="2052042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1500" y="5058667"/>
            <a:ext cx="6182171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753671" y="5058667"/>
            <a:ext cx="2814786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9568457" y="5058667"/>
            <a:ext cx="2052042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71500" y="5753992"/>
            <a:ext cx="6182171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753671" y="5753992"/>
            <a:ext cx="2814786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9568457" y="5753992"/>
            <a:ext cx="2052042" cy="9525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54207" y="253930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54207" y="32346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54207" y="532060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54207" y="60159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54207" y="462528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54207" y="392995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54207" y="253930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54207" y="32346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54207" y="392995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54207" y="462528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54207" y="532060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54207" y="601593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43496"/>
            <a:ext cx="5238750" cy="4933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43496"/>
            <a:ext cx="5238750" cy="493305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571500" y="381446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Évolution du Modèle de Données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1133921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962025" y="1934021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Optimisation de l'Architecture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62025" y="2429321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Le modèle initial, fortement normalisé (multi-tables pour producteur, client, admin), a été restructuré pour répondre aux contraintes de </a:t>
            </a: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performance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et d'</a:t>
            </a: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agilité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962025" y="3648521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Le modèle final est simplifié : une table centrale unique compte avec distinction par rôles, la gestion du panier déportée en cookies, et l'ajout de tables spécifiques pour la gamification.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772275" y="1934021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Modèle Logique (MLDR Textuel)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6772275" y="2524571"/>
            <a:ext cx="4457700" cy="3561457"/>
          </a:xfrm>
          <a:prstGeom prst="rect">
            <a:avLst/>
          </a:prstGeom>
          <a:solidFill>
            <a:srgbClr val="F4E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7010400" y="2762696"/>
            <a:ext cx="3981450" cy="3085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5C6B3A"/>
                </a:solidFill>
                <a:latin typeface="Arial"/>
                <a:ea typeface="Arial"/>
                <a:cs typeface="Arial"/>
                <a:sym typeface="Arial"/>
              </a:rPr>
              <a:t>COMPTE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35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id_compte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nom, email, mot_de_passe, role, points_fidelite)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5C6B3A"/>
                </a:solidFill>
                <a:latin typeface="Arial"/>
                <a:ea typeface="Arial"/>
                <a:cs typeface="Arial"/>
                <a:sym typeface="Arial"/>
              </a:rPr>
              <a:t>PRODUIT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35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id_produit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nom, description, prix, stock, </a:t>
            </a:r>
            <a:r>
              <a:rPr lang="en-US" sz="1350" b="0" i="1" u="none" strike="noStrike" cap="none">
                <a:solidFill>
                  <a:srgbClr val="C95A5A"/>
                </a:solidFill>
                <a:latin typeface="Arial"/>
                <a:ea typeface="Arial"/>
                <a:cs typeface="Arial"/>
                <a:sym typeface="Arial"/>
              </a:rPr>
              <a:t>#id_producteur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5C6B3A"/>
                </a:solidFill>
                <a:latin typeface="Arial"/>
                <a:ea typeface="Arial"/>
                <a:cs typeface="Arial"/>
                <a:sym typeface="Arial"/>
              </a:rPr>
              <a:t>COMMANDE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35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id_commande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date_cmd, montant_total, statut, </a:t>
            </a:r>
            <a:r>
              <a:rPr lang="en-US" sz="1350" b="0" i="1" u="none" strike="noStrike" cap="none">
                <a:solidFill>
                  <a:srgbClr val="C95A5A"/>
                </a:solidFill>
                <a:latin typeface="Arial"/>
                <a:ea typeface="Arial"/>
                <a:cs typeface="Arial"/>
                <a:sym typeface="Arial"/>
              </a:rPr>
              <a:t>#id_client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5C6B3A"/>
                </a:solidFill>
                <a:latin typeface="Arial"/>
                <a:ea typeface="Arial"/>
                <a:cs typeface="Arial"/>
                <a:sym typeface="Arial"/>
              </a:rPr>
              <a:t>LIGNE_CMD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350" b="1" i="1" u="none" strike="noStrike" cap="none">
                <a:solidFill>
                  <a:srgbClr val="C95A5A"/>
                </a:solidFill>
                <a:latin typeface="Arial"/>
                <a:ea typeface="Arial"/>
                <a:cs typeface="Arial"/>
                <a:sym typeface="Arial"/>
              </a:rPr>
              <a:t>#id_commande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50" b="1" i="1" u="none" strike="noStrike" cap="none">
                <a:solidFill>
                  <a:srgbClr val="C95A5A"/>
                </a:solidFill>
                <a:latin typeface="Arial"/>
                <a:ea typeface="Arial"/>
                <a:cs typeface="Arial"/>
                <a:sym typeface="Arial"/>
              </a:rPr>
              <a:t>#id_produit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quantite)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5C6B3A"/>
                </a:solidFill>
                <a:latin typeface="Arial"/>
                <a:ea typeface="Arial"/>
                <a:cs typeface="Arial"/>
                <a:sym typeface="Arial"/>
              </a:rPr>
              <a:t>AVIS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35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id_avis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note, commentaire, </a:t>
            </a:r>
            <a:r>
              <a:rPr lang="en-US" sz="1350" b="0" i="1" u="none" strike="noStrike" cap="none">
                <a:solidFill>
                  <a:srgbClr val="C95A5A"/>
                </a:solidFill>
                <a:latin typeface="Arial"/>
                <a:ea typeface="Arial"/>
                <a:cs typeface="Arial"/>
                <a:sym typeface="Arial"/>
              </a:rPr>
              <a:t>#id_produit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50" b="0" i="1" u="none" strike="noStrike" cap="none">
                <a:solidFill>
                  <a:srgbClr val="C95A5A"/>
                </a:solidFill>
                <a:latin typeface="Arial"/>
                <a:ea typeface="Arial"/>
                <a:cs typeface="Arial"/>
                <a:sym typeface="Arial"/>
              </a:rPr>
              <a:t>#id_client</a:t>
            </a:r>
            <a:r>
              <a:rPr lang="en-US"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6772275" y="2524571"/>
            <a:ext cx="47625" cy="3561457"/>
          </a:xfrm>
          <a:prstGeom prst="rect">
            <a:avLst/>
          </a:prstGeom>
          <a:solidFill>
            <a:srgbClr val="5C6B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3550"/>
            <a:ext cx="3492549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733550"/>
            <a:ext cx="3492549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733550"/>
            <a:ext cx="3492549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Aperçu de la Plateforme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762000" y="4495800"/>
            <a:ext cx="31115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C6B3A"/>
                </a:solidFill>
                <a:latin typeface="Inter Medium"/>
                <a:ea typeface="Inter Medium"/>
                <a:cs typeface="Inter Medium"/>
                <a:sym typeface="Inter Medium"/>
              </a:rPr>
              <a:t>Page d'Accueil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4540299" y="4495800"/>
            <a:ext cx="31115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C6B3A"/>
                </a:solidFill>
                <a:latin typeface="Inter Medium"/>
                <a:ea typeface="Inter Medium"/>
                <a:cs typeface="Inter Medium"/>
                <a:sym typeface="Inter Medium"/>
              </a:rPr>
              <a:t>Catalogue &amp; Filtres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8318599" y="4495800"/>
            <a:ext cx="31115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C6B3A"/>
                </a:solidFill>
                <a:latin typeface="Inter Medium"/>
                <a:ea typeface="Inter Medium"/>
                <a:cs typeface="Inter Medium"/>
                <a:sym typeface="Inter Medium"/>
              </a:rPr>
              <a:t>Tableau de Bord</a:t>
            </a:r>
            <a:endParaRPr/>
          </a:p>
        </p:txBody>
      </p:sp>
      <p:pic>
        <p:nvPicPr>
          <p:cNvPr id="232" name="Google Shape;23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3400" y="1924050"/>
            <a:ext cx="3650151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53850" y="1822275"/>
            <a:ext cx="3268399" cy="238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8600" y="1850100"/>
            <a:ext cx="3268399" cy="23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571500" y="200025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Difficultés et Solutions Déployées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71500" y="95250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1333500" y="1362075"/>
            <a:ext cx="95250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2095500" y="1600200"/>
            <a:ext cx="847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C6B3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Instabilité initiale du PHP 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Résolue par des sessions de correction de code collectives, aboutissant à une version stable le 16/06.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1333500" y="1362075"/>
            <a:ext cx="57150" cy="1085850"/>
          </a:xfrm>
          <a:prstGeom prst="rect">
            <a:avLst/>
          </a:prstGeom>
          <a:solidFill>
            <a:srgbClr val="5C6B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1333500" y="2686050"/>
            <a:ext cx="95250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2095500" y="2924175"/>
            <a:ext cx="847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C6B3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Panier en cookies 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Nécessité d'adapter complètement la logique de mise à jour pour garantir des performances optimales sans saturer la BDD.</a:t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1333500" y="2686050"/>
            <a:ext cx="57150" cy="1085850"/>
          </a:xfrm>
          <a:prstGeom prst="rect">
            <a:avLst/>
          </a:prstGeom>
          <a:solidFill>
            <a:srgbClr val="5C6B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333500" y="4010025"/>
            <a:ext cx="95250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2095500" y="4248150"/>
            <a:ext cx="847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C6B3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Génération des factures 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Intégration et paramétrage complexe du pack FPDF, avec résolution des problèmes de chemins de fichiers.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1333500" y="4010025"/>
            <a:ext cx="57150" cy="1085850"/>
          </a:xfrm>
          <a:prstGeom prst="rect">
            <a:avLst/>
          </a:prstGeom>
          <a:solidFill>
            <a:srgbClr val="5C6B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1333500" y="5334000"/>
            <a:ext cx="95250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2095500" y="5572125"/>
            <a:ext cx="847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C6B3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Sécurité de connexion (CAPTCHA) 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Implémentation réussie avec conservation sécurisée du code de vérification au sein des variables de session.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1333500" y="5334000"/>
            <a:ext cx="57150" cy="1085850"/>
          </a:xfrm>
          <a:prstGeom prst="rect">
            <a:avLst/>
          </a:prstGeom>
          <a:solidFill>
            <a:srgbClr val="5C6B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8775" y="15954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28775" y="29194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28775" y="42433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28775" y="556736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621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Pistes d'Amélioration Futures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571500" y="17621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Afin de faire évoluer GreenMarket, plusieurs axes d'extensions sont envisagés pour la V2 :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857250" y="25622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Intégration d'une </a:t>
            </a: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passerelle de paiement réelle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(Stripe, CMI).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857250" y="33623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Développement d'une </a:t>
            </a: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application mobile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native dédiée.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857250" y="41624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Intégration de l'</a:t>
            </a: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Intelligence Artificielle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pour des recommandations de produits personnalisées.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857250" y="49625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Mise en place de </a:t>
            </a:r>
            <a:r>
              <a:rPr lang="en-US" sz="15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notifications par email</a:t>
            </a: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automatisées.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857250" y="57626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Système avancé de gestion des réclamations clients.</a:t>
            </a:r>
            <a:endParaRPr/>
          </a:p>
        </p:txBody>
      </p:sp>
      <p:pic>
        <p:nvPicPr>
          <p:cNvPr id="272" name="Google Shape;27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9850" y="1800225"/>
            <a:ext cx="51625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571500" y="25050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571500" y="33051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571500" y="41052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571500" y="49053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571500" y="570547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00437" y="4434780"/>
            <a:ext cx="51911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295275" y="1813619"/>
            <a:ext cx="11601450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5C6B3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571500" y="3023294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GreenMarket est une plateforme fonctionnelle, répondant aux objectifs initiaux.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571500" y="3562350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L'équipe a su surmonter les défis techniques grâce à une collaboration solide.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571500" y="201364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Sources de</a:t>
            </a:r>
            <a:r>
              <a:rPr lang="en-US" sz="3600">
                <a:solidFill>
                  <a:srgbClr val="5C6B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 illustrations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571500" y="953839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71500" y="1363414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71500" y="234627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71500" y="332913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571500" y="411390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71500" y="509676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71500" y="23367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571500" y="23367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71500" y="331961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571500" y="331961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571500" y="41043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571500" y="41043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571500" y="50872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571500" y="50872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571500" y="58720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71500" y="58720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19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1666875" y="150628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https://static.vecteezy.com/system/resources/thumbnails/071/530/832/small/software-developers-team-collaboration-meeting-in-modern-office-programming-code-review-and-discussion-photo.jpeg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666875" y="19500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312" name="Google Shape;31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9481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1666875" y="248915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https://img.freepik.com/premium-vector/cloud-architect-abstract-concept-vector-illustration-datacenter-worker-with-diagram-laptop-technology-network-security-architecture-edge-computing-cloud-network-safety-abstract-metaphor_107173-45767.jpg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1666875" y="29329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id="315" name="Google Shape;31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785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5"/>
          <p:cNvSpPr txBox="1"/>
          <p:nvPr/>
        </p:nvSpPr>
        <p:spPr>
          <a:xfrm>
            <a:off x="1666875" y="347201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https://wclrpxsaxaytddashlef.supabase.co/storage/v1/object/public/products/1773413273885-z6gt6q5.webp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1666875" y="37177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www.moroccanorganica.com</a:t>
            </a:r>
            <a:endParaRPr/>
          </a:p>
        </p:txBody>
      </p:sp>
      <p:pic>
        <p:nvPicPr>
          <p:cNvPr id="318" name="Google Shape;318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624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/>
        </p:nvSpPr>
        <p:spPr>
          <a:xfrm>
            <a:off x="1666875" y="425678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https://elements-resized.envatousercontent.com/elements-cover-images/043bde5e-0661-4cf7-ad7f-ca13b73226c7?w=433&amp;cf_fit=scale-down&amp;q=85&amp;format=auto&amp;s=5fd4dfa51c3253453c19cae3f7699a1098c35abf8334195dce0f817cce61ec19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1666875" y="470058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elements.envato.com</a:t>
            </a:r>
            <a:endParaRPr/>
          </a:p>
        </p:txBody>
      </p:sp>
      <p:pic>
        <p:nvPicPr>
          <p:cNvPr id="321" name="Google Shape;321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2461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 txBox="1"/>
          <p:nvPr/>
        </p:nvSpPr>
        <p:spPr>
          <a:xfrm>
            <a:off x="1666875" y="523964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https://cdn.dribbble.com/userupload/10957436/file/original-f9c117451ef8c95fd574b63d18ae9389.png?format=webp&amp;resize=400x300&amp;vertical=center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1666875" y="548535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pic>
        <p:nvPicPr>
          <p:cNvPr id="324" name="Google Shape;324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60309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5"/>
          <p:cNvSpPr txBox="1"/>
          <p:nvPr/>
        </p:nvSpPr>
        <p:spPr>
          <a:xfrm>
            <a:off x="1666875" y="602441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https://cdn.dribbble.com/userupload/43426695/file/original-6fdee7d9522c2c2ef36718c9471b4c84.png?resize=752x&amp;vertical=center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1666875" y="627012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996</Words>
  <Application>Microsoft Office PowerPoint</Application>
  <PresentationFormat>Grand écran</PresentationFormat>
  <Paragraphs>98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Playfair Display</vt:lpstr>
      <vt:lpstr>Inter Medium</vt:lpstr>
      <vt:lpstr>Calibri</vt:lpstr>
      <vt:lpstr>Arial</vt:lpstr>
      <vt:lpstr>Playfair Display SemiBold</vt:lpstr>
      <vt:lpstr>Inter</vt:lpstr>
      <vt:lpstr>Inter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AZAANOUN ISMAIL</cp:lastModifiedBy>
  <cp:revision>1</cp:revision>
  <dcterms:modified xsi:type="dcterms:W3CDTF">2026-06-28T05:29:59Z</dcterms:modified>
</cp:coreProperties>
</file>